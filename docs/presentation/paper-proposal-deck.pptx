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12.xml.rels" ContentType="application/vnd.openxmlformats-package.relationships+xml"/>
  <Override PartName="/ppt/slides/_rels/slide2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6.xml.rels" ContentType="application/vnd.openxmlformats-package.relationships+xml"/>
  <Override PartName="/ppt/slides/_rels/slide11.xml.rels" ContentType="application/vnd.openxmlformats-package.relationships+xml"/>
  <Override PartName="/ppt/slides/_rels/slide7.xml.rels" ContentType="application/vnd.openxmlformats-package.relationships+xml"/>
  <Override PartName="/ppt/slides/_rels/slide9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3.xml.rels" ContentType="application/vnd.openxmlformats-package.relationships+xml"/>
  <Override PartName="/ppt/slides/_rels/slide3.xml.rels" ContentType="application/vnd.openxmlformats-package.relationships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notesSlides/_rels/notesSlide12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4.xml.rels" ContentType="application/vnd.openxmlformats-package.relationships+xml"/>
  <Override PartName="/ppt/notesSlides/_rels/notesSlide7.xml.rels" ContentType="application/vnd.openxmlformats-package.relationships+xml"/>
  <Override PartName="/ppt/notesSlides/_rels/notesSlide5.xml.rels" ContentType="application/vnd.openxmlformats-package.relationships+xml"/>
  <Override PartName="/ppt/notesSlides/_rels/notesSlide3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Verdana"/>
              </a:rPr>
              <a:t>Click to move the slide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E17F2E5-C17F-40BD-A506-AB43BEDA1BC3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B99265B-8F83-4B1F-B2F4-5BC5EA31D2C7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F449782-A828-436F-ACFF-6CA8B2B1089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2750A9F-FF32-412C-810A-7E8F56826DA7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FAD242-0357-486B-8B79-72FFA8F2AC4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1E8AB7D-F3A2-4C76-B94D-C7ADA504D2DE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1C94533-4EEE-4F5C-BEF9-C9C9309D9777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8EC1F4-3B86-4C3A-8BD1-9B615423E673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7DC2121-1AFE-4078-8C5C-4CA8FF16F04C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CEEE4AF-DA17-4108-888D-13FB3B10DBD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2AFBA52-603B-40AC-95F7-DA4F32AC6897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E9B344A-68D5-4DEC-9CEF-3632EA952A70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4F0ACBC-29A4-448F-A2A5-A3A437C7ED9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921E8A-8DFF-4568-B70A-AB7AFB6B567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Verdana"/>
              </a:rPr>
              <a:t>Click to edit the title text format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Verdana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Verdana"/>
              </a:rPr>
              <a:t>Second Outline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Verdana"/>
              </a:rPr>
              <a:t>Third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Verdana"/>
              </a:rPr>
              <a:t>Fourth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Verdana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Verdana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Verdana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7fb"/>
          </a:solidFill>
          <a:ln w="12600">
            <a:solidFill>
              <a:srgbClr val="f6f7f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1"/>
          <p:cNvSpPr/>
          <p:nvPr/>
        </p:nvSpPr>
        <p:spPr>
          <a:xfrm>
            <a:off x="658440" y="822960"/>
            <a:ext cx="164160" cy="4754520"/>
          </a:xfrm>
          <a:prstGeom prst="rect">
            <a:avLst/>
          </a:prstGeom>
          <a:solidFill>
            <a:srgbClr val="1e7c86"/>
          </a:solidFill>
          <a:ln w="12600">
            <a:solidFill>
              <a:srgbClr val="1e7c8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2"/>
          <p:cNvSpPr/>
          <p:nvPr/>
        </p:nvSpPr>
        <p:spPr>
          <a:xfrm>
            <a:off x="1005840" y="960120"/>
            <a:ext cx="6583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e7c86"/>
                </a:solidFill>
                <a:effectLst/>
                <a:uFillTx/>
                <a:latin typeface="Verdana"/>
                <a:ea typeface="Verdana"/>
              </a:rPr>
              <a:t>Symbolic Music Benchmark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3"/>
          <p:cNvSpPr/>
          <p:nvPr/>
        </p:nvSpPr>
        <p:spPr>
          <a:xfrm>
            <a:off x="987480" y="1417320"/>
            <a:ext cx="63090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Music Theory and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Computational Musicology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4"/>
          <p:cNvSpPr/>
          <p:nvPr/>
        </p:nvSpPr>
        <p:spPr>
          <a:xfrm>
            <a:off x="987480" y="3063240"/>
            <a:ext cx="52117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A benchmark with classification and transformation tasks, automatic formal evaluation, and an optional analytical explanation layer.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5"/>
          <p:cNvSpPr/>
          <p:nvPr/>
        </p:nvSpPr>
        <p:spPr>
          <a:xfrm>
            <a:off x="7726680" y="1097280"/>
            <a:ext cx="3611520" cy="141696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6"/>
          <p:cNvSpPr/>
          <p:nvPr/>
        </p:nvSpPr>
        <p:spPr>
          <a:xfrm>
            <a:off x="7726680" y="1097280"/>
            <a:ext cx="109440" cy="1416960"/>
          </a:xfrm>
          <a:prstGeom prst="rect">
            <a:avLst/>
          </a:prstGeom>
          <a:solidFill>
            <a:srgbClr val="1e7c86"/>
          </a:solidFill>
          <a:ln w="12600">
            <a:solidFill>
              <a:srgbClr val="1e7c8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7"/>
          <p:cNvSpPr/>
          <p:nvPr/>
        </p:nvSpPr>
        <p:spPr>
          <a:xfrm>
            <a:off x="7927920" y="1243440"/>
            <a:ext cx="3300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Standard benchmark mode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8"/>
          <p:cNvSpPr/>
          <p:nvPr/>
        </p:nvSpPr>
        <p:spPr>
          <a:xfrm>
            <a:off x="7927920" y="1572840"/>
            <a:ext cx="3300480" cy="83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Mandatory and easy to test. Outputs are prediction_label or prediction_notes, with clean automatic evaluation for non-expert users.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9"/>
          <p:cNvSpPr/>
          <p:nvPr/>
        </p:nvSpPr>
        <p:spPr>
          <a:xfrm>
            <a:off x="7726680" y="2743200"/>
            <a:ext cx="3611520" cy="141696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10"/>
          <p:cNvSpPr/>
          <p:nvPr/>
        </p:nvSpPr>
        <p:spPr>
          <a:xfrm>
            <a:off x="7726680" y="2743200"/>
            <a:ext cx="109440" cy="1416960"/>
          </a:xfrm>
          <a:prstGeom prst="rect">
            <a:avLst/>
          </a:prstGeom>
          <a:solidFill>
            <a:srgbClr val="c18a2d"/>
          </a:solidFill>
          <a:ln w="12600">
            <a:solidFill>
              <a:srgbClr val="c18a2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1"/>
          <p:cNvSpPr/>
          <p:nvPr/>
        </p:nvSpPr>
        <p:spPr>
          <a:xfrm>
            <a:off x="7927920" y="2889360"/>
            <a:ext cx="3300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Explanatory mode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2"/>
          <p:cNvSpPr/>
          <p:nvPr/>
        </p:nvSpPr>
        <p:spPr>
          <a:xfrm>
            <a:off x="7927920" y="3218760"/>
            <a:ext cx="3300480" cy="83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Optional and paper-oriented. prediction_explanation is preserved for qualitative analysis without destabilizing the main benchmark.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3"/>
          <p:cNvSpPr/>
          <p:nvPr/>
        </p:nvSpPr>
        <p:spPr>
          <a:xfrm>
            <a:off x="7726680" y="4389120"/>
            <a:ext cx="3611520" cy="123408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4"/>
          <p:cNvSpPr/>
          <p:nvPr/>
        </p:nvSpPr>
        <p:spPr>
          <a:xfrm>
            <a:off x="7726680" y="4389120"/>
            <a:ext cx="109440" cy="1234080"/>
          </a:xfrm>
          <a:prstGeom prst="rect">
            <a:avLst/>
          </a:prstGeom>
          <a:solidFill>
            <a:srgbClr val="b5535c"/>
          </a:solidFill>
          <a:ln w="12600">
            <a:solidFill>
              <a:srgbClr val="b553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5"/>
          <p:cNvSpPr/>
          <p:nvPr/>
        </p:nvSpPr>
        <p:spPr>
          <a:xfrm>
            <a:off x="7927920" y="4535280"/>
            <a:ext cx="3300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Presentation use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6"/>
          <p:cNvSpPr/>
          <p:nvPr/>
        </p:nvSpPr>
        <p:spPr>
          <a:xfrm>
            <a:off x="7927920" y="4864680"/>
            <a:ext cx="3300480" cy="64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Editable .pptx deck designed to be imported into Google Slides for collaboration.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7"/>
          <p:cNvSpPr/>
          <p:nvPr/>
        </p:nvSpPr>
        <p:spPr>
          <a:xfrm>
            <a:off x="548640" y="647388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midi_agent | paper proposal deck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0"/>
          <p:cNvSpPr/>
          <p:nvPr/>
        </p:nvSpPr>
        <p:spPr>
          <a:xfrm>
            <a:off x="0" y="0"/>
            <a:ext cx="12191400" cy="292320"/>
          </a:xfrm>
          <a:prstGeom prst="rect">
            <a:avLst/>
          </a:prstGeom>
          <a:solidFill>
            <a:srgbClr val="123b66"/>
          </a:solidFill>
          <a:ln w="12600">
            <a:solidFill>
              <a:srgbClr val="123b6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"/>
          <p:cNvSpPr/>
          <p:nvPr/>
        </p:nvSpPr>
        <p:spPr>
          <a:xfrm>
            <a:off x="548640" y="43884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1e7c86"/>
                </a:solidFill>
                <a:effectLst/>
                <a:uFillTx/>
                <a:latin typeface="Verdana"/>
                <a:ea typeface="Verdana"/>
              </a:rPr>
              <a:t>MOTIVATION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"/>
          <p:cNvSpPr/>
          <p:nvPr/>
        </p:nvSpPr>
        <p:spPr>
          <a:xfrm>
            <a:off x="548640" y="713160"/>
            <a:ext cx="8960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Why a symbolic music-theory benchmark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3"/>
          <p:cNvSpPr/>
          <p:nvPr/>
        </p:nvSpPr>
        <p:spPr>
          <a:xfrm>
            <a:off x="548640" y="1170360"/>
            <a:ext cx="9966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The project needs to be useful as software, but also legible as a scientific contribution.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4"/>
          <p:cNvSpPr/>
          <p:nvPr/>
        </p:nvSpPr>
        <p:spPr>
          <a:xfrm>
            <a:off x="548640" y="1663920"/>
            <a:ext cx="11064240" cy="1080"/>
          </a:xfrm>
          <a:prstGeom prst="line">
            <a:avLst/>
          </a:prstGeom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3920" bIns="-4392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5"/>
          <p:cNvSpPr/>
          <p:nvPr/>
        </p:nvSpPr>
        <p:spPr>
          <a:xfrm>
            <a:off x="640080" y="1965960"/>
            <a:ext cx="5303160" cy="352008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6"/>
          <p:cNvSpPr/>
          <p:nvPr/>
        </p:nvSpPr>
        <p:spPr>
          <a:xfrm>
            <a:off x="640080" y="1965960"/>
            <a:ext cx="109440" cy="3520080"/>
          </a:xfrm>
          <a:prstGeom prst="rect">
            <a:avLst/>
          </a:prstGeom>
          <a:solidFill>
            <a:srgbClr val="1e7c86"/>
          </a:solidFill>
          <a:ln w="12600">
            <a:solidFill>
              <a:srgbClr val="1e7c8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7"/>
          <p:cNvSpPr/>
          <p:nvPr/>
        </p:nvSpPr>
        <p:spPr>
          <a:xfrm>
            <a:off x="841320" y="2112120"/>
            <a:ext cx="4992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Why symbolic benchmarking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8"/>
          <p:cNvSpPr/>
          <p:nvPr/>
        </p:nvSpPr>
        <p:spPr>
          <a:xfrm>
            <a:off x="841320" y="2441520"/>
            <a:ext cx="4992120" cy="293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05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</p:txBody>
      </p:sp>
      <p:sp>
        <p:nvSpPr>
          <p:cNvPr id="39" name="Text 9"/>
          <p:cNvSpPr/>
          <p:nvPr/>
        </p:nvSpPr>
        <p:spPr>
          <a:xfrm>
            <a:off x="914400" y="2514600"/>
            <a:ext cx="46630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It operationalizes musical relationships that can be verified with rule-based logic.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0"/>
          <p:cNvSpPr/>
          <p:nvPr/>
        </p:nvSpPr>
        <p:spPr>
          <a:xfrm>
            <a:off x="914400" y="3081600"/>
            <a:ext cx="46630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It avoids the ambiguity of audio-only evaluation in a first benchmark release.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1"/>
          <p:cNvSpPr/>
          <p:nvPr/>
        </p:nvSpPr>
        <p:spPr>
          <a:xfrm>
            <a:off x="914400" y="3648600"/>
            <a:ext cx="46630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It lets us compare models on musically meaningful structure rather than surface text alone.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2"/>
          <p:cNvSpPr/>
          <p:nvPr/>
        </p:nvSpPr>
        <p:spPr>
          <a:xfrm>
            <a:off x="914400" y="4215240"/>
            <a:ext cx="46630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It creates a reproducible benchmark that non-expert users can run end to end.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3"/>
          <p:cNvSpPr/>
          <p:nvPr/>
        </p:nvSpPr>
        <p:spPr>
          <a:xfrm>
            <a:off x="6217920" y="1965960"/>
            <a:ext cx="5348880" cy="1508400"/>
          </a:xfrm>
          <a:prstGeom prst="roundRect">
            <a:avLst>
              <a:gd name="adj" fmla="val 4848"/>
            </a:avLst>
          </a:prstGeom>
          <a:solidFill>
            <a:srgbClr val="faf3e6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14"/>
          <p:cNvSpPr/>
          <p:nvPr/>
        </p:nvSpPr>
        <p:spPr>
          <a:xfrm>
            <a:off x="6217920" y="1965960"/>
            <a:ext cx="109440" cy="1508400"/>
          </a:xfrm>
          <a:prstGeom prst="rect">
            <a:avLst/>
          </a:prstGeom>
          <a:solidFill>
            <a:srgbClr val="c18a2d"/>
          </a:solidFill>
          <a:ln w="12600">
            <a:solidFill>
              <a:srgbClr val="c18a2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5"/>
          <p:cNvSpPr/>
          <p:nvPr/>
        </p:nvSpPr>
        <p:spPr>
          <a:xfrm>
            <a:off x="6419160" y="2112120"/>
            <a:ext cx="5037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Scientific value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6"/>
          <p:cNvSpPr/>
          <p:nvPr/>
        </p:nvSpPr>
        <p:spPr>
          <a:xfrm>
            <a:off x="6419160" y="2441520"/>
            <a:ext cx="503784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The benchmark can support a paper on symbolic musical reasoning, music-theory operationalization, and the gap between structural correctness and analytical explanation.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17"/>
          <p:cNvSpPr/>
          <p:nvPr/>
        </p:nvSpPr>
        <p:spPr>
          <a:xfrm>
            <a:off x="6217920" y="3657600"/>
            <a:ext cx="5348880" cy="1828440"/>
          </a:xfrm>
          <a:prstGeom prst="roundRect">
            <a:avLst>
              <a:gd name="adj" fmla="val 4000"/>
            </a:avLst>
          </a:prstGeom>
          <a:solidFill>
            <a:srgbClr val="f9ecee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8"/>
          <p:cNvSpPr/>
          <p:nvPr/>
        </p:nvSpPr>
        <p:spPr>
          <a:xfrm>
            <a:off x="6217920" y="3657600"/>
            <a:ext cx="109440" cy="1828440"/>
          </a:xfrm>
          <a:prstGeom prst="rect">
            <a:avLst/>
          </a:prstGeom>
          <a:solidFill>
            <a:srgbClr val="b5535c"/>
          </a:solidFill>
          <a:ln w="12600">
            <a:solidFill>
              <a:srgbClr val="b553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9"/>
          <p:cNvSpPr/>
          <p:nvPr/>
        </p:nvSpPr>
        <p:spPr>
          <a:xfrm>
            <a:off x="6419160" y="3803760"/>
            <a:ext cx="5037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Project design principle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0"/>
          <p:cNvSpPr/>
          <p:nvPr/>
        </p:nvSpPr>
        <p:spPr>
          <a:xfrm>
            <a:off x="6419160" y="4133160"/>
            <a:ext cx="5037840" cy="12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Keep the standard benchmark simple, testable, and automatically evaluable. Add interpretation as a second layer instead of forcing every run to produce discursive prose.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1"/>
          <p:cNvSpPr/>
          <p:nvPr/>
        </p:nvSpPr>
        <p:spPr>
          <a:xfrm>
            <a:off x="548640" y="647388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Motivation | benchmark + paper framing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0"/>
          <p:cNvSpPr/>
          <p:nvPr/>
        </p:nvSpPr>
        <p:spPr>
          <a:xfrm>
            <a:off x="0" y="0"/>
            <a:ext cx="12191400" cy="292320"/>
          </a:xfrm>
          <a:prstGeom prst="rect">
            <a:avLst/>
          </a:prstGeom>
          <a:solidFill>
            <a:srgbClr val="123b66"/>
          </a:solidFill>
          <a:ln w="12600">
            <a:solidFill>
              <a:srgbClr val="123b6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"/>
          <p:cNvSpPr/>
          <p:nvPr/>
        </p:nvSpPr>
        <p:spPr>
          <a:xfrm>
            <a:off x="548640" y="43884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1e7c86"/>
                </a:solidFill>
                <a:effectLst/>
                <a:uFillTx/>
                <a:latin typeface="Verdana"/>
                <a:ea typeface="Verdana"/>
              </a:rPr>
              <a:t>TASKS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2"/>
          <p:cNvSpPr/>
          <p:nvPr/>
        </p:nvSpPr>
        <p:spPr>
          <a:xfrm>
            <a:off x="548640" y="713160"/>
            <a:ext cx="8960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Task families and benchmark outputs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3"/>
          <p:cNvSpPr/>
          <p:nvPr/>
        </p:nvSpPr>
        <p:spPr>
          <a:xfrm>
            <a:off x="548640" y="1170360"/>
            <a:ext cx="9966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The benchmark covers eight tasks split into label classification and symbolic sequence transformation.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4"/>
          <p:cNvSpPr/>
          <p:nvPr/>
        </p:nvSpPr>
        <p:spPr>
          <a:xfrm>
            <a:off x="548640" y="1663920"/>
            <a:ext cx="11064240" cy="1080"/>
          </a:xfrm>
          <a:prstGeom prst="line">
            <a:avLst/>
          </a:prstGeom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3920" bIns="-4392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5"/>
          <p:cNvSpPr/>
          <p:nvPr/>
        </p:nvSpPr>
        <p:spPr>
          <a:xfrm>
            <a:off x="640080" y="1965960"/>
            <a:ext cx="5303160" cy="2834280"/>
          </a:xfrm>
          <a:prstGeom prst="roundRect">
            <a:avLst>
              <a:gd name="adj" fmla="val 2581"/>
            </a:avLst>
          </a:prstGeom>
          <a:solidFill>
            <a:srgbClr val="e9f5f6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6"/>
          <p:cNvSpPr/>
          <p:nvPr/>
        </p:nvSpPr>
        <p:spPr>
          <a:xfrm>
            <a:off x="640080" y="1965960"/>
            <a:ext cx="109440" cy="2834280"/>
          </a:xfrm>
          <a:prstGeom prst="rect">
            <a:avLst/>
          </a:prstGeom>
          <a:solidFill>
            <a:srgbClr val="1e7c86"/>
          </a:solidFill>
          <a:ln w="12600">
            <a:solidFill>
              <a:srgbClr val="1e7c8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7"/>
          <p:cNvSpPr/>
          <p:nvPr/>
        </p:nvSpPr>
        <p:spPr>
          <a:xfrm>
            <a:off x="841320" y="2112120"/>
            <a:ext cx="4992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Label classification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8"/>
          <p:cNvSpPr/>
          <p:nvPr/>
        </p:nvSpPr>
        <p:spPr>
          <a:xfrm>
            <a:off x="841320" y="2441520"/>
            <a:ext cx="4992120" cy="22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05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</p:txBody>
      </p:sp>
      <p:sp>
        <p:nvSpPr>
          <p:cNvPr id="61" name="Text 9"/>
          <p:cNvSpPr/>
          <p:nvPr/>
        </p:nvSpPr>
        <p:spPr>
          <a:xfrm>
            <a:off x="914400" y="2468880"/>
            <a:ext cx="45716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Task 1: Interval Identification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0"/>
          <p:cNvSpPr/>
          <p:nvPr/>
        </p:nvSpPr>
        <p:spPr>
          <a:xfrm>
            <a:off x="914400" y="2889360"/>
            <a:ext cx="45716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Task 2: Chord Identification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1"/>
          <p:cNvSpPr/>
          <p:nvPr/>
        </p:nvSpPr>
        <p:spPr>
          <a:xfrm>
            <a:off x="914400" y="3310200"/>
            <a:ext cx="45716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Task 3: Harmonic Function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2"/>
          <p:cNvSpPr/>
          <p:nvPr/>
        </p:nvSpPr>
        <p:spPr>
          <a:xfrm>
            <a:off x="914400" y="3730680"/>
            <a:ext cx="45716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Task 8: Voice-Leading Violation Detection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3"/>
          <p:cNvSpPr/>
          <p:nvPr/>
        </p:nvSpPr>
        <p:spPr>
          <a:xfrm>
            <a:off x="914400" y="4151520"/>
            <a:ext cx="45716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Main output: prediction_label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14"/>
          <p:cNvSpPr/>
          <p:nvPr/>
        </p:nvSpPr>
        <p:spPr>
          <a:xfrm>
            <a:off x="6217920" y="1965960"/>
            <a:ext cx="5348880" cy="2834280"/>
          </a:xfrm>
          <a:prstGeom prst="roundRect">
            <a:avLst>
              <a:gd name="adj" fmla="val 2581"/>
            </a:avLst>
          </a:prstGeom>
          <a:solidFill>
            <a:srgbClr val="faf3e6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15"/>
          <p:cNvSpPr/>
          <p:nvPr/>
        </p:nvSpPr>
        <p:spPr>
          <a:xfrm>
            <a:off x="6217920" y="1965960"/>
            <a:ext cx="109440" cy="2834280"/>
          </a:xfrm>
          <a:prstGeom prst="rect">
            <a:avLst/>
          </a:prstGeom>
          <a:solidFill>
            <a:srgbClr val="c18a2d"/>
          </a:solidFill>
          <a:ln w="12600">
            <a:solidFill>
              <a:srgbClr val="c18a2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6"/>
          <p:cNvSpPr/>
          <p:nvPr/>
        </p:nvSpPr>
        <p:spPr>
          <a:xfrm>
            <a:off x="6419160" y="2112120"/>
            <a:ext cx="5037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Sequence transformation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7"/>
          <p:cNvSpPr/>
          <p:nvPr/>
        </p:nvSpPr>
        <p:spPr>
          <a:xfrm>
            <a:off x="6419160" y="2441520"/>
            <a:ext cx="5037840" cy="22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05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</p:txBody>
      </p:sp>
      <p:sp>
        <p:nvSpPr>
          <p:cNvPr id="70" name="Text 18"/>
          <p:cNvSpPr/>
          <p:nvPr/>
        </p:nvSpPr>
        <p:spPr>
          <a:xfrm>
            <a:off x="6492240" y="246888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2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Task 4: Transposition</a:t>
            </a:r>
            <a:endParaRPr b="0" lang="en-US" sz="11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9"/>
          <p:cNvSpPr/>
          <p:nvPr/>
        </p:nvSpPr>
        <p:spPr>
          <a:xfrm>
            <a:off x="6492240" y="283464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2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Task 5: Melodic Inversion</a:t>
            </a:r>
            <a:endParaRPr b="0" lang="en-US" sz="11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0"/>
          <p:cNvSpPr/>
          <p:nvPr/>
        </p:nvSpPr>
        <p:spPr>
          <a:xfrm>
            <a:off x="6492240" y="320040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2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Task 6: Retrograde</a:t>
            </a:r>
            <a:endParaRPr b="0" lang="en-US" sz="11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1"/>
          <p:cNvSpPr/>
          <p:nvPr/>
        </p:nvSpPr>
        <p:spPr>
          <a:xfrm>
            <a:off x="6492240" y="356616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2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Task 7: Rhythmic Augmentation or Diminution</a:t>
            </a:r>
            <a:endParaRPr b="0" lang="en-US" sz="11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22"/>
          <p:cNvSpPr/>
          <p:nvPr/>
        </p:nvSpPr>
        <p:spPr>
          <a:xfrm>
            <a:off x="6492240" y="393192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2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Main output: prediction_notes</a:t>
            </a:r>
            <a:endParaRPr b="0" lang="en-US" sz="11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3"/>
          <p:cNvSpPr/>
          <p:nvPr/>
        </p:nvSpPr>
        <p:spPr>
          <a:xfrm>
            <a:off x="6492240" y="429768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2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Optional output: prediction_structured</a:t>
            </a:r>
            <a:endParaRPr b="0" lang="en-US" sz="11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4"/>
          <p:cNvSpPr/>
          <p:nvPr/>
        </p:nvSpPr>
        <p:spPr>
          <a:xfrm>
            <a:off x="640080" y="5120640"/>
            <a:ext cx="10926720" cy="86832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25"/>
          <p:cNvSpPr/>
          <p:nvPr/>
        </p:nvSpPr>
        <p:spPr>
          <a:xfrm>
            <a:off x="640080" y="5120640"/>
            <a:ext cx="109440" cy="868320"/>
          </a:xfrm>
          <a:prstGeom prst="rect">
            <a:avLst/>
          </a:prstGeom>
          <a:solidFill>
            <a:srgbClr val="b5535c"/>
          </a:solidFill>
          <a:ln w="12600">
            <a:solidFill>
              <a:srgbClr val="b553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26"/>
          <p:cNvSpPr/>
          <p:nvPr/>
        </p:nvSpPr>
        <p:spPr>
          <a:xfrm>
            <a:off x="841320" y="5266800"/>
            <a:ext cx="10615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Usage modes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7"/>
          <p:cNvSpPr/>
          <p:nvPr/>
        </p:nvSpPr>
        <p:spPr>
          <a:xfrm>
            <a:off x="841320" y="5596200"/>
            <a:ext cx="1061568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Standard mode is the default benchmark path. Explanatory mode is optional and preserves prediction_explanation for qualitative paper analysis.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8"/>
          <p:cNvSpPr/>
          <p:nvPr/>
        </p:nvSpPr>
        <p:spPr>
          <a:xfrm>
            <a:off x="548640" y="647388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Benchmark tasks | label and sequence outputs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0"/>
          <p:cNvSpPr/>
          <p:nvPr/>
        </p:nvSpPr>
        <p:spPr>
          <a:xfrm>
            <a:off x="0" y="0"/>
            <a:ext cx="12191400" cy="292320"/>
          </a:xfrm>
          <a:prstGeom prst="rect">
            <a:avLst/>
          </a:prstGeom>
          <a:solidFill>
            <a:srgbClr val="123b66"/>
          </a:solidFill>
          <a:ln w="12600">
            <a:solidFill>
              <a:srgbClr val="123b6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"/>
          <p:cNvSpPr/>
          <p:nvPr/>
        </p:nvSpPr>
        <p:spPr>
          <a:xfrm>
            <a:off x="548640" y="43884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1e7c86"/>
                </a:solidFill>
                <a:effectLst/>
                <a:uFillTx/>
                <a:latin typeface="Verdana"/>
                <a:ea typeface="Verdana"/>
              </a:rPr>
              <a:t>SCOPE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"/>
          <p:cNvSpPr/>
          <p:nvPr/>
        </p:nvSpPr>
        <p:spPr>
          <a:xfrm>
            <a:off x="548640" y="713160"/>
            <a:ext cx="8960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Current V1 scope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3"/>
          <p:cNvSpPr/>
          <p:nvPr/>
        </p:nvSpPr>
        <p:spPr>
          <a:xfrm>
            <a:off x="548640" y="1170360"/>
            <a:ext cx="9966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The benchmark should present these constraints as an intentional V1 boundary for reproducible evaluation.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4"/>
          <p:cNvSpPr/>
          <p:nvPr/>
        </p:nvSpPr>
        <p:spPr>
          <a:xfrm>
            <a:off x="548640" y="1663920"/>
            <a:ext cx="11064240" cy="1080"/>
          </a:xfrm>
          <a:prstGeom prst="line">
            <a:avLst/>
          </a:prstGeom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3920" bIns="-4392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5"/>
          <p:cNvSpPr/>
          <p:nvPr/>
        </p:nvSpPr>
        <p:spPr>
          <a:xfrm>
            <a:off x="640080" y="1965960"/>
            <a:ext cx="2742840" cy="141696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6"/>
          <p:cNvSpPr/>
          <p:nvPr/>
        </p:nvSpPr>
        <p:spPr>
          <a:xfrm>
            <a:off x="640080" y="1965960"/>
            <a:ext cx="109440" cy="1416960"/>
          </a:xfrm>
          <a:prstGeom prst="rect">
            <a:avLst/>
          </a:prstGeom>
          <a:solidFill>
            <a:srgbClr val="1e7c86"/>
          </a:solidFill>
          <a:ln w="12600">
            <a:solidFill>
              <a:srgbClr val="1e7c8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7"/>
          <p:cNvSpPr/>
          <p:nvPr/>
        </p:nvSpPr>
        <p:spPr>
          <a:xfrm>
            <a:off x="841320" y="2112120"/>
            <a:ext cx="2431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Harmonic function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8"/>
          <p:cNvSpPr/>
          <p:nvPr/>
        </p:nvSpPr>
        <p:spPr>
          <a:xfrm>
            <a:off x="841320" y="2441520"/>
            <a:ext cx="2431800" cy="83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Major mode only in V1, with three coarse labels: tonic, predominant, dominant.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9"/>
          <p:cNvSpPr/>
          <p:nvPr/>
        </p:nvSpPr>
        <p:spPr>
          <a:xfrm>
            <a:off x="3611880" y="1965960"/>
            <a:ext cx="2742840" cy="141696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10"/>
          <p:cNvSpPr/>
          <p:nvPr/>
        </p:nvSpPr>
        <p:spPr>
          <a:xfrm>
            <a:off x="3611880" y="1965960"/>
            <a:ext cx="109440" cy="1416960"/>
          </a:xfrm>
          <a:prstGeom prst="rect">
            <a:avLst/>
          </a:prstGeom>
          <a:solidFill>
            <a:srgbClr val="c18a2d"/>
          </a:solidFill>
          <a:ln w="12600">
            <a:solidFill>
              <a:srgbClr val="c18a2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1"/>
          <p:cNvSpPr/>
          <p:nvPr/>
        </p:nvSpPr>
        <p:spPr>
          <a:xfrm>
            <a:off x="3813120" y="2112120"/>
            <a:ext cx="2431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Voice-leading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2"/>
          <p:cNvSpPr/>
          <p:nvPr/>
        </p:nvSpPr>
        <p:spPr>
          <a:xfrm>
            <a:off x="3813120" y="2441520"/>
            <a:ext cx="2431800" cy="83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Two-voice simplification in V1, with labels limited to parallel_fifths, voice_crossing, and none.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3"/>
          <p:cNvSpPr/>
          <p:nvPr/>
        </p:nvSpPr>
        <p:spPr>
          <a:xfrm>
            <a:off x="6583680" y="1965960"/>
            <a:ext cx="2651400" cy="141696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14"/>
          <p:cNvSpPr/>
          <p:nvPr/>
        </p:nvSpPr>
        <p:spPr>
          <a:xfrm>
            <a:off x="6583680" y="1965960"/>
            <a:ext cx="109440" cy="1416960"/>
          </a:xfrm>
          <a:prstGeom prst="rect">
            <a:avLst/>
          </a:prstGeom>
          <a:solidFill>
            <a:srgbClr val="b5535c"/>
          </a:solidFill>
          <a:ln w="12600">
            <a:solidFill>
              <a:srgbClr val="b553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5"/>
          <p:cNvSpPr/>
          <p:nvPr/>
        </p:nvSpPr>
        <p:spPr>
          <a:xfrm>
            <a:off x="6784920" y="2112120"/>
            <a:ext cx="2340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Harmony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6"/>
          <p:cNvSpPr/>
          <p:nvPr/>
        </p:nvSpPr>
        <p:spPr>
          <a:xfrm>
            <a:off x="6784920" y="2441520"/>
            <a:ext cx="2340360" cy="83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Reduced chord vocabulary focused on major, minor, diminished, augmented, and dominant7.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17"/>
          <p:cNvSpPr/>
          <p:nvPr/>
        </p:nvSpPr>
        <p:spPr>
          <a:xfrm>
            <a:off x="9464040" y="1965960"/>
            <a:ext cx="2102760" cy="141696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18"/>
          <p:cNvSpPr/>
          <p:nvPr/>
        </p:nvSpPr>
        <p:spPr>
          <a:xfrm>
            <a:off x="9464040" y="1965960"/>
            <a:ext cx="109440" cy="1416960"/>
          </a:xfrm>
          <a:prstGeom prst="rect">
            <a:avLst/>
          </a:prstGeom>
          <a:solidFill>
            <a:srgbClr val="2a8e5e"/>
          </a:solidFill>
          <a:ln w="12600">
            <a:solidFill>
              <a:srgbClr val="2a8e5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9"/>
          <p:cNvSpPr/>
          <p:nvPr/>
        </p:nvSpPr>
        <p:spPr>
          <a:xfrm>
            <a:off x="9665280" y="2112120"/>
            <a:ext cx="1791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Representation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0"/>
          <p:cNvSpPr/>
          <p:nvPr/>
        </p:nvSpPr>
        <p:spPr>
          <a:xfrm>
            <a:off x="9665280" y="2441520"/>
            <a:ext cx="1791720" cy="83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Symbolic music only, not audio.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1"/>
          <p:cNvSpPr/>
          <p:nvPr/>
        </p:nvSpPr>
        <p:spPr>
          <a:xfrm>
            <a:off x="640080" y="3749040"/>
            <a:ext cx="10926720" cy="1508400"/>
          </a:xfrm>
          <a:prstGeom prst="roundRect">
            <a:avLst>
              <a:gd name="adj" fmla="val 4848"/>
            </a:avLst>
          </a:prstGeom>
          <a:solidFill>
            <a:srgbClr val="e9f5f6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22"/>
          <p:cNvSpPr/>
          <p:nvPr/>
        </p:nvSpPr>
        <p:spPr>
          <a:xfrm>
            <a:off x="640080" y="3749040"/>
            <a:ext cx="109440" cy="1508400"/>
          </a:xfrm>
          <a:prstGeom prst="rect">
            <a:avLst/>
          </a:prstGeom>
          <a:solidFill>
            <a:srgbClr val="1e7c86"/>
          </a:solidFill>
          <a:ln w="12600">
            <a:solidFill>
              <a:srgbClr val="1e7c8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3"/>
          <p:cNvSpPr/>
          <p:nvPr/>
        </p:nvSpPr>
        <p:spPr>
          <a:xfrm>
            <a:off x="841320" y="3895200"/>
            <a:ext cx="10615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Interpretation of scope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4"/>
          <p:cNvSpPr/>
          <p:nvPr/>
        </p:nvSpPr>
        <p:spPr>
          <a:xfrm>
            <a:off x="841320" y="4224600"/>
            <a:ext cx="1061568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These are not arbitrary simplifications. They define a current V1 benchmark slice that is narrow enough to be stable, testable, and easy to document, while still being broad enough to support a real discussion in music theory and computational musicology.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25"/>
          <p:cNvSpPr/>
          <p:nvPr/>
        </p:nvSpPr>
        <p:spPr>
          <a:xfrm>
            <a:off x="548640" y="647388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Current V1 scope | constrained but defensible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0"/>
          <p:cNvSpPr/>
          <p:nvPr/>
        </p:nvSpPr>
        <p:spPr>
          <a:xfrm>
            <a:off x="0" y="0"/>
            <a:ext cx="12191400" cy="292320"/>
          </a:xfrm>
          <a:prstGeom prst="rect">
            <a:avLst/>
          </a:prstGeom>
          <a:solidFill>
            <a:srgbClr val="123b66"/>
          </a:solidFill>
          <a:ln w="12600">
            <a:solidFill>
              <a:srgbClr val="123b6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"/>
          <p:cNvSpPr/>
          <p:nvPr/>
        </p:nvSpPr>
        <p:spPr>
          <a:xfrm>
            <a:off x="548640" y="43884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1e7c86"/>
                </a:solidFill>
                <a:effectLst/>
                <a:uFillTx/>
                <a:latin typeface="Verdana"/>
                <a:ea typeface="Verdana"/>
              </a:rPr>
              <a:t>SCOPE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2"/>
          <p:cNvSpPr/>
          <p:nvPr/>
        </p:nvSpPr>
        <p:spPr>
          <a:xfrm>
            <a:off x="548640" y="713160"/>
            <a:ext cx="8960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Planned extensions and not yet final theoretical coverage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3"/>
          <p:cNvSpPr/>
          <p:nvPr/>
        </p:nvSpPr>
        <p:spPr>
          <a:xfrm>
            <a:off x="548640" y="1170360"/>
            <a:ext cx="9966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The current benchmark is scientifically usable now, but it should not be framed as the final boundary of the paper.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4"/>
          <p:cNvSpPr/>
          <p:nvPr/>
        </p:nvSpPr>
        <p:spPr>
          <a:xfrm>
            <a:off x="548640" y="1663920"/>
            <a:ext cx="11064240" cy="1080"/>
          </a:xfrm>
          <a:prstGeom prst="line">
            <a:avLst/>
          </a:prstGeom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3920" bIns="-4392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5"/>
          <p:cNvSpPr/>
          <p:nvPr/>
        </p:nvSpPr>
        <p:spPr>
          <a:xfrm>
            <a:off x="640080" y="1965960"/>
            <a:ext cx="5486040" cy="32914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6"/>
          <p:cNvSpPr/>
          <p:nvPr/>
        </p:nvSpPr>
        <p:spPr>
          <a:xfrm>
            <a:off x="640080" y="1965960"/>
            <a:ext cx="109440" cy="3291480"/>
          </a:xfrm>
          <a:prstGeom prst="rect">
            <a:avLst/>
          </a:prstGeom>
          <a:solidFill>
            <a:srgbClr val="c18a2d"/>
          </a:solidFill>
          <a:ln w="12600">
            <a:solidFill>
              <a:srgbClr val="c18a2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7"/>
          <p:cNvSpPr/>
          <p:nvPr/>
        </p:nvSpPr>
        <p:spPr>
          <a:xfrm>
            <a:off x="841320" y="2112120"/>
            <a:ext cx="5175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Planned extensions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8"/>
          <p:cNvSpPr/>
          <p:nvPr/>
        </p:nvSpPr>
        <p:spPr>
          <a:xfrm>
            <a:off x="841320" y="2441520"/>
            <a:ext cx="5175000" cy="270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05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</p:txBody>
      </p:sp>
      <p:sp>
        <p:nvSpPr>
          <p:cNvPr id="116" name="Text 9"/>
          <p:cNvSpPr/>
          <p:nvPr/>
        </p:nvSpPr>
        <p:spPr>
          <a:xfrm>
            <a:off x="960120" y="2560320"/>
            <a:ext cx="48459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2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Extend harmonic-function coverage beyond major mode.</a:t>
            </a:r>
            <a:endParaRPr b="0" lang="en-US" sz="11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0"/>
          <p:cNvSpPr/>
          <p:nvPr/>
        </p:nvSpPr>
        <p:spPr>
          <a:xfrm>
            <a:off x="960120" y="3072240"/>
            <a:ext cx="48459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2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Extend voice-leading analysis beyond two voices.</a:t>
            </a:r>
            <a:endParaRPr b="0" lang="en-US" sz="11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1"/>
          <p:cNvSpPr/>
          <p:nvPr/>
        </p:nvSpPr>
        <p:spPr>
          <a:xfrm>
            <a:off x="960120" y="3584520"/>
            <a:ext cx="48459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2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Expand the harmonic vocabulary and chord-template inventory.</a:t>
            </a:r>
            <a:endParaRPr b="0" lang="en-US" sz="11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2"/>
          <p:cNvSpPr/>
          <p:nvPr/>
        </p:nvSpPr>
        <p:spPr>
          <a:xfrm>
            <a:off x="960120" y="4096440"/>
            <a:ext cx="48459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2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Study richer analytical explanations and explanation quality.</a:t>
            </a:r>
            <a:endParaRPr b="0" lang="en-US" sz="11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3"/>
          <p:cNvSpPr/>
          <p:nvPr/>
        </p:nvSpPr>
        <p:spPr>
          <a:xfrm>
            <a:off x="960120" y="4608720"/>
            <a:ext cx="48459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2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Broaden the comparison between standard accuracy and interpretive capacity.</a:t>
            </a:r>
            <a:endParaRPr b="0" lang="en-US" sz="11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14"/>
          <p:cNvSpPr/>
          <p:nvPr/>
        </p:nvSpPr>
        <p:spPr>
          <a:xfrm>
            <a:off x="6400800" y="1965960"/>
            <a:ext cx="5166000" cy="1691280"/>
          </a:xfrm>
          <a:prstGeom prst="roundRect">
            <a:avLst>
              <a:gd name="adj" fmla="val 4324"/>
            </a:avLst>
          </a:prstGeom>
          <a:solidFill>
            <a:srgbClr val="f9ecee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5"/>
          <p:cNvSpPr/>
          <p:nvPr/>
        </p:nvSpPr>
        <p:spPr>
          <a:xfrm>
            <a:off x="6400800" y="1965960"/>
            <a:ext cx="109440" cy="1691280"/>
          </a:xfrm>
          <a:prstGeom prst="rect">
            <a:avLst/>
          </a:prstGeom>
          <a:solidFill>
            <a:srgbClr val="b5535c"/>
          </a:solidFill>
          <a:ln w="12600">
            <a:solidFill>
              <a:srgbClr val="b553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6"/>
          <p:cNvSpPr/>
          <p:nvPr/>
        </p:nvSpPr>
        <p:spPr>
          <a:xfrm>
            <a:off x="6602040" y="2112120"/>
            <a:ext cx="4854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Not yet final theoretical coverage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7"/>
          <p:cNvSpPr/>
          <p:nvPr/>
        </p:nvSpPr>
        <p:spPr>
          <a:xfrm>
            <a:off x="6602040" y="2441520"/>
            <a:ext cx="4854960" cy="11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The paper should describe the current benchmark as a V1 slice, not as exhaustive tonal or musicological coverage.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8"/>
          <p:cNvSpPr/>
          <p:nvPr/>
        </p:nvSpPr>
        <p:spPr>
          <a:xfrm>
            <a:off x="6400800" y="3886200"/>
            <a:ext cx="5166000" cy="1371240"/>
          </a:xfrm>
          <a:prstGeom prst="roundRect">
            <a:avLst>
              <a:gd name="adj" fmla="val 5333"/>
            </a:avLst>
          </a:prstGeom>
          <a:solidFill>
            <a:srgbClr val="faf3e6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9"/>
          <p:cNvSpPr/>
          <p:nvPr/>
        </p:nvSpPr>
        <p:spPr>
          <a:xfrm>
            <a:off x="6400800" y="3886200"/>
            <a:ext cx="109440" cy="1371240"/>
          </a:xfrm>
          <a:prstGeom prst="rect">
            <a:avLst/>
          </a:prstGeom>
          <a:solidFill>
            <a:srgbClr val="c18a2d"/>
          </a:solidFill>
          <a:ln w="12600">
            <a:solidFill>
              <a:srgbClr val="c18a2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0"/>
          <p:cNvSpPr/>
          <p:nvPr/>
        </p:nvSpPr>
        <p:spPr>
          <a:xfrm>
            <a:off x="6602040" y="4032360"/>
            <a:ext cx="4854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Recommended wording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1"/>
          <p:cNvSpPr/>
          <p:nvPr/>
        </p:nvSpPr>
        <p:spPr>
          <a:xfrm>
            <a:off x="6602040" y="4361760"/>
            <a:ext cx="485496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Current V1 scope. Planned extensions. Not yet final theoretical coverage.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2"/>
          <p:cNvSpPr/>
          <p:nvPr/>
        </p:nvSpPr>
        <p:spPr>
          <a:xfrm>
            <a:off x="548640" y="647388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Planned extensions | future-facing wording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0"/>
          <p:cNvSpPr/>
          <p:nvPr/>
        </p:nvSpPr>
        <p:spPr>
          <a:xfrm>
            <a:off x="0" y="0"/>
            <a:ext cx="12191400" cy="292320"/>
          </a:xfrm>
          <a:prstGeom prst="rect">
            <a:avLst/>
          </a:prstGeom>
          <a:solidFill>
            <a:srgbClr val="123b66"/>
          </a:solidFill>
          <a:ln w="12600">
            <a:solidFill>
              <a:srgbClr val="123b6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548640" y="43884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1e7c86"/>
                </a:solidFill>
                <a:effectLst/>
                <a:uFillTx/>
                <a:latin typeface="Verdana"/>
                <a:ea typeface="Verdana"/>
              </a:rPr>
              <a:t>ARCHITECTURE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2"/>
          <p:cNvSpPr/>
          <p:nvPr/>
        </p:nvSpPr>
        <p:spPr>
          <a:xfrm>
            <a:off x="548640" y="713160"/>
            <a:ext cx="8960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Benchmark pipeline architecture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548640" y="1170360"/>
            <a:ext cx="9966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The benchmark is organized as a rule-based generation and evaluation pipeline around tokenizer views and model-ready cases.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548640" y="1663920"/>
            <a:ext cx="11064240" cy="1080"/>
          </a:xfrm>
          <a:prstGeom prst="line">
            <a:avLst/>
          </a:prstGeom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3920" bIns="-4392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5"/>
          <p:cNvSpPr/>
          <p:nvPr/>
        </p:nvSpPr>
        <p:spPr>
          <a:xfrm>
            <a:off x="685800" y="2743200"/>
            <a:ext cx="1919880" cy="114264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831960" y="2907720"/>
            <a:ext cx="16272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Theory rules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831960" y="3218760"/>
            <a:ext cx="1627200" cy="55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rules.py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task_specs.py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musicology.py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8"/>
          <p:cNvSpPr/>
          <p:nvPr/>
        </p:nvSpPr>
        <p:spPr>
          <a:xfrm>
            <a:off x="2743200" y="2743200"/>
            <a:ext cx="1919880" cy="114264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9"/>
          <p:cNvSpPr/>
          <p:nvPr/>
        </p:nvSpPr>
        <p:spPr>
          <a:xfrm>
            <a:off x="2889360" y="2907720"/>
            <a:ext cx="16272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Raw benchmark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0"/>
          <p:cNvSpPr/>
          <p:nvPr/>
        </p:nvSpPr>
        <p:spPr>
          <a:xfrm>
            <a:off x="2889360" y="3218760"/>
            <a:ext cx="1627200" cy="55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gen_zero_shot.py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raw note-level jsonl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1"/>
          <p:cNvSpPr/>
          <p:nvPr/>
        </p:nvSpPr>
        <p:spPr>
          <a:xfrm>
            <a:off x="4800600" y="2743200"/>
            <a:ext cx="1919880" cy="114264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4946760" y="2907720"/>
            <a:ext cx="16272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Views and cases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4946760" y="3218760"/>
            <a:ext cx="1627200" cy="55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export_views.py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build_model_io_json.py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4"/>
          <p:cNvSpPr/>
          <p:nvPr/>
        </p:nvSpPr>
        <p:spPr>
          <a:xfrm>
            <a:off x="6858000" y="2743200"/>
            <a:ext cx="1919880" cy="114264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5"/>
          <p:cNvSpPr/>
          <p:nvPr/>
        </p:nvSpPr>
        <p:spPr>
          <a:xfrm>
            <a:off x="7004160" y="2907720"/>
            <a:ext cx="16272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Model runners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6"/>
          <p:cNvSpPr/>
          <p:nvPr/>
        </p:nvSpPr>
        <p:spPr>
          <a:xfrm>
            <a:off x="7004160" y="3218760"/>
            <a:ext cx="1627200" cy="55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run_api_model_list.py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run_ollama_model_list.py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17"/>
          <p:cNvSpPr/>
          <p:nvPr/>
        </p:nvSpPr>
        <p:spPr>
          <a:xfrm>
            <a:off x="8915400" y="2743200"/>
            <a:ext cx="1919880" cy="114264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8"/>
          <p:cNvSpPr/>
          <p:nvPr/>
        </p:nvSpPr>
        <p:spPr>
          <a:xfrm>
            <a:off x="9061560" y="2907720"/>
            <a:ext cx="16272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Evaluation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9061560" y="3218760"/>
            <a:ext cx="1627200" cy="55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eval_predictions.py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annotate_model_outputs.py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20"/>
          <p:cNvSpPr/>
          <p:nvPr/>
        </p:nvSpPr>
        <p:spPr>
          <a:xfrm>
            <a:off x="2606040" y="3309840"/>
            <a:ext cx="137160" cy="1080"/>
          </a:xfrm>
          <a:prstGeom prst="line">
            <a:avLst/>
          </a:prstGeom>
          <a:ln w="12600">
            <a:solidFill>
              <a:srgbClr val="1e7c8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3920" bIns="-4392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1"/>
          <p:cNvSpPr/>
          <p:nvPr/>
        </p:nvSpPr>
        <p:spPr>
          <a:xfrm>
            <a:off x="4663440" y="3309840"/>
            <a:ext cx="137160" cy="1080"/>
          </a:xfrm>
          <a:prstGeom prst="line">
            <a:avLst/>
          </a:prstGeom>
          <a:ln w="12600">
            <a:solidFill>
              <a:srgbClr val="1e7c8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3920" bIns="-4392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22"/>
          <p:cNvSpPr/>
          <p:nvPr/>
        </p:nvSpPr>
        <p:spPr>
          <a:xfrm>
            <a:off x="6720840" y="3309840"/>
            <a:ext cx="137160" cy="1080"/>
          </a:xfrm>
          <a:prstGeom prst="line">
            <a:avLst/>
          </a:prstGeom>
          <a:ln w="12600">
            <a:solidFill>
              <a:srgbClr val="1e7c8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3920" bIns="-4392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8778240" y="3309840"/>
            <a:ext cx="137160" cy="1080"/>
          </a:xfrm>
          <a:prstGeom prst="line">
            <a:avLst/>
          </a:prstGeom>
          <a:ln w="12600">
            <a:solidFill>
              <a:srgbClr val="1e7c8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3920" bIns="-4392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24"/>
          <p:cNvSpPr/>
          <p:nvPr/>
        </p:nvSpPr>
        <p:spPr>
          <a:xfrm>
            <a:off x="685800" y="4617720"/>
            <a:ext cx="10149480" cy="1096920"/>
          </a:xfrm>
          <a:prstGeom prst="roundRect">
            <a:avLst>
              <a:gd name="adj" fmla="val 6667"/>
            </a:avLst>
          </a:prstGeom>
          <a:solidFill>
            <a:srgbClr val="e9f5f6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25"/>
          <p:cNvSpPr/>
          <p:nvPr/>
        </p:nvSpPr>
        <p:spPr>
          <a:xfrm>
            <a:off x="685800" y="4617720"/>
            <a:ext cx="109440" cy="1096920"/>
          </a:xfrm>
          <a:prstGeom prst="rect">
            <a:avLst/>
          </a:prstGeom>
          <a:solidFill>
            <a:srgbClr val="1e7c86"/>
          </a:solidFill>
          <a:ln w="12600">
            <a:solidFill>
              <a:srgbClr val="1e7c8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6"/>
          <p:cNvSpPr/>
          <p:nvPr/>
        </p:nvSpPr>
        <p:spPr>
          <a:xfrm>
            <a:off x="887040" y="4763880"/>
            <a:ext cx="9838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Output products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27"/>
          <p:cNvSpPr/>
          <p:nvPr/>
        </p:nvSpPr>
        <p:spPr>
          <a:xfrm>
            <a:off x="887040" y="5093280"/>
            <a:ext cx="983844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The standard path produces predictions.jsonl, overall.json, by_task.json, and by_tokenizer.json. The analysis path adds cases_with_outputs.json and summary.json.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8"/>
          <p:cNvSpPr/>
          <p:nvPr/>
        </p:nvSpPr>
        <p:spPr>
          <a:xfrm>
            <a:off x="548640" y="647388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Architecture | benchmark pipeline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Shape 0"/>
          <p:cNvSpPr/>
          <p:nvPr/>
        </p:nvSpPr>
        <p:spPr>
          <a:xfrm>
            <a:off x="0" y="0"/>
            <a:ext cx="12191400" cy="292320"/>
          </a:xfrm>
          <a:prstGeom prst="rect">
            <a:avLst/>
          </a:prstGeom>
          <a:solidFill>
            <a:srgbClr val="123b66"/>
          </a:solidFill>
          <a:ln w="12600">
            <a:solidFill>
              <a:srgbClr val="123b6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"/>
          <p:cNvSpPr/>
          <p:nvPr/>
        </p:nvSpPr>
        <p:spPr>
          <a:xfrm>
            <a:off x="548640" y="43884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1e7c86"/>
                </a:solidFill>
                <a:effectLst/>
                <a:uFillTx/>
                <a:latin typeface="Verdana"/>
                <a:ea typeface="Verdana"/>
              </a:rPr>
              <a:t>WORKFLOW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"/>
          <p:cNvSpPr/>
          <p:nvPr/>
        </p:nvSpPr>
        <p:spPr>
          <a:xfrm>
            <a:off x="548640" y="713160"/>
            <a:ext cx="8960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Standard benchmark workflow for non-expert users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"/>
          <p:cNvSpPr/>
          <p:nvPr/>
        </p:nvSpPr>
        <p:spPr>
          <a:xfrm>
            <a:off x="548640" y="1170360"/>
            <a:ext cx="9966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The default path should be simple enough to document in a user guide and easy enough to run without deep repository knowledge.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4"/>
          <p:cNvSpPr/>
          <p:nvPr/>
        </p:nvSpPr>
        <p:spPr>
          <a:xfrm>
            <a:off x="548640" y="1663920"/>
            <a:ext cx="11064240" cy="1080"/>
          </a:xfrm>
          <a:prstGeom prst="line">
            <a:avLst/>
          </a:prstGeom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3920" bIns="-4392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5"/>
          <p:cNvSpPr/>
          <p:nvPr/>
        </p:nvSpPr>
        <p:spPr>
          <a:xfrm>
            <a:off x="731520" y="2743200"/>
            <a:ext cx="1371240" cy="1096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6"/>
          <p:cNvSpPr/>
          <p:nvPr/>
        </p:nvSpPr>
        <p:spPr>
          <a:xfrm>
            <a:off x="877680" y="2907720"/>
            <a:ext cx="1078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Generate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7"/>
          <p:cNvSpPr/>
          <p:nvPr/>
        </p:nvSpPr>
        <p:spPr>
          <a:xfrm>
            <a:off x="877680" y="3218760"/>
            <a:ext cx="10785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gen_zero_shot.py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8"/>
          <p:cNvSpPr/>
          <p:nvPr/>
        </p:nvSpPr>
        <p:spPr>
          <a:xfrm>
            <a:off x="2103120" y="3291840"/>
            <a:ext cx="219240" cy="720"/>
          </a:xfrm>
          <a:prstGeom prst="line">
            <a:avLst/>
          </a:prstGeom>
          <a:ln w="12600">
            <a:solidFill>
              <a:srgbClr val="c18a2d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9"/>
          <p:cNvSpPr/>
          <p:nvPr/>
        </p:nvSpPr>
        <p:spPr>
          <a:xfrm>
            <a:off x="2377440" y="2743200"/>
            <a:ext cx="1371240" cy="1096920"/>
          </a:xfrm>
          <a:prstGeom prst="roundRect">
            <a:avLst>
              <a:gd name="adj" fmla="val 6667"/>
            </a:avLst>
          </a:prstGeom>
          <a:solidFill>
            <a:srgbClr val="faf3e6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0"/>
          <p:cNvSpPr/>
          <p:nvPr/>
        </p:nvSpPr>
        <p:spPr>
          <a:xfrm>
            <a:off x="2523600" y="2907720"/>
            <a:ext cx="1078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Export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1"/>
          <p:cNvSpPr/>
          <p:nvPr/>
        </p:nvSpPr>
        <p:spPr>
          <a:xfrm>
            <a:off x="2523600" y="3218760"/>
            <a:ext cx="10785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export_views.py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12"/>
          <p:cNvSpPr/>
          <p:nvPr/>
        </p:nvSpPr>
        <p:spPr>
          <a:xfrm>
            <a:off x="3749040" y="3291840"/>
            <a:ext cx="219240" cy="720"/>
          </a:xfrm>
          <a:prstGeom prst="line">
            <a:avLst/>
          </a:prstGeom>
          <a:ln w="12600">
            <a:solidFill>
              <a:srgbClr val="c18a2d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13"/>
          <p:cNvSpPr/>
          <p:nvPr/>
        </p:nvSpPr>
        <p:spPr>
          <a:xfrm>
            <a:off x="4023360" y="2743200"/>
            <a:ext cx="1371240" cy="1096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4"/>
          <p:cNvSpPr/>
          <p:nvPr/>
        </p:nvSpPr>
        <p:spPr>
          <a:xfrm>
            <a:off x="4169520" y="2907720"/>
            <a:ext cx="1078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Validate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5"/>
          <p:cNvSpPr/>
          <p:nvPr/>
        </p:nvSpPr>
        <p:spPr>
          <a:xfrm>
            <a:off x="4169520" y="3218760"/>
            <a:ext cx="10785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validate_views.py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16"/>
          <p:cNvSpPr/>
          <p:nvPr/>
        </p:nvSpPr>
        <p:spPr>
          <a:xfrm>
            <a:off x="5394960" y="3291840"/>
            <a:ext cx="219240" cy="720"/>
          </a:xfrm>
          <a:prstGeom prst="line">
            <a:avLst/>
          </a:prstGeom>
          <a:ln w="12600">
            <a:solidFill>
              <a:srgbClr val="c18a2d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17"/>
          <p:cNvSpPr/>
          <p:nvPr/>
        </p:nvSpPr>
        <p:spPr>
          <a:xfrm>
            <a:off x="5669280" y="2743200"/>
            <a:ext cx="1371240" cy="1096920"/>
          </a:xfrm>
          <a:prstGeom prst="roundRect">
            <a:avLst>
              <a:gd name="adj" fmla="val 6667"/>
            </a:avLst>
          </a:prstGeom>
          <a:solidFill>
            <a:srgbClr val="faf3e6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8"/>
          <p:cNvSpPr/>
          <p:nvPr/>
        </p:nvSpPr>
        <p:spPr>
          <a:xfrm>
            <a:off x="5815440" y="2907720"/>
            <a:ext cx="1078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Build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9"/>
          <p:cNvSpPr/>
          <p:nvPr/>
        </p:nvSpPr>
        <p:spPr>
          <a:xfrm>
            <a:off x="5815440" y="3218760"/>
            <a:ext cx="10785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build_model_io_json.py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20"/>
          <p:cNvSpPr/>
          <p:nvPr/>
        </p:nvSpPr>
        <p:spPr>
          <a:xfrm>
            <a:off x="7040880" y="3291840"/>
            <a:ext cx="219240" cy="720"/>
          </a:xfrm>
          <a:prstGeom prst="line">
            <a:avLst/>
          </a:prstGeom>
          <a:ln w="12600">
            <a:solidFill>
              <a:srgbClr val="c18a2d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21"/>
          <p:cNvSpPr/>
          <p:nvPr/>
        </p:nvSpPr>
        <p:spPr>
          <a:xfrm>
            <a:off x="7315200" y="2743200"/>
            <a:ext cx="1371240" cy="1096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22"/>
          <p:cNvSpPr/>
          <p:nvPr/>
        </p:nvSpPr>
        <p:spPr>
          <a:xfrm>
            <a:off x="7461360" y="2907720"/>
            <a:ext cx="1078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Run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3"/>
          <p:cNvSpPr/>
          <p:nvPr/>
        </p:nvSpPr>
        <p:spPr>
          <a:xfrm>
            <a:off x="7461360" y="3218760"/>
            <a:ext cx="10785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run_api_model_list.py or run_ollama_model_list.py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24"/>
          <p:cNvSpPr/>
          <p:nvPr/>
        </p:nvSpPr>
        <p:spPr>
          <a:xfrm>
            <a:off x="8686800" y="3291840"/>
            <a:ext cx="219240" cy="720"/>
          </a:xfrm>
          <a:prstGeom prst="line">
            <a:avLst/>
          </a:prstGeom>
          <a:ln w="12600">
            <a:solidFill>
              <a:srgbClr val="c18a2d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25"/>
          <p:cNvSpPr/>
          <p:nvPr/>
        </p:nvSpPr>
        <p:spPr>
          <a:xfrm>
            <a:off x="8961120" y="2743200"/>
            <a:ext cx="1371240" cy="1096920"/>
          </a:xfrm>
          <a:prstGeom prst="roundRect">
            <a:avLst>
              <a:gd name="adj" fmla="val 6667"/>
            </a:avLst>
          </a:prstGeom>
          <a:solidFill>
            <a:srgbClr val="faf3e6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6"/>
          <p:cNvSpPr/>
          <p:nvPr/>
        </p:nvSpPr>
        <p:spPr>
          <a:xfrm>
            <a:off x="9107280" y="2907720"/>
            <a:ext cx="1078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Evaluate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27"/>
          <p:cNvSpPr/>
          <p:nvPr/>
        </p:nvSpPr>
        <p:spPr>
          <a:xfrm>
            <a:off x="9107280" y="3218760"/>
            <a:ext cx="10785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eval_predictions.py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28"/>
          <p:cNvSpPr/>
          <p:nvPr/>
        </p:nvSpPr>
        <p:spPr>
          <a:xfrm>
            <a:off x="10332720" y="3291840"/>
            <a:ext cx="219240" cy="720"/>
          </a:xfrm>
          <a:prstGeom prst="line">
            <a:avLst/>
          </a:prstGeom>
          <a:ln w="12600">
            <a:solidFill>
              <a:srgbClr val="c18a2d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29"/>
          <p:cNvSpPr/>
          <p:nvPr/>
        </p:nvSpPr>
        <p:spPr>
          <a:xfrm>
            <a:off x="10607040" y="2743200"/>
            <a:ext cx="1371240" cy="1096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30"/>
          <p:cNvSpPr/>
          <p:nvPr/>
        </p:nvSpPr>
        <p:spPr>
          <a:xfrm>
            <a:off x="10753200" y="2907720"/>
            <a:ext cx="1078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Review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31"/>
          <p:cNvSpPr/>
          <p:nvPr/>
        </p:nvSpPr>
        <p:spPr>
          <a:xfrm>
            <a:off x="10753200" y="3218760"/>
            <a:ext cx="10785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annotate_model_outputs.py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32"/>
          <p:cNvSpPr/>
          <p:nvPr/>
        </p:nvSpPr>
        <p:spPr>
          <a:xfrm>
            <a:off x="1051560" y="4663440"/>
            <a:ext cx="10149480" cy="1051200"/>
          </a:xfrm>
          <a:prstGeom prst="roundRect">
            <a:avLst>
              <a:gd name="adj" fmla="val 6957"/>
            </a:avLst>
          </a:prstGeom>
          <a:solidFill>
            <a:srgbClr val="f9ecee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33"/>
          <p:cNvSpPr/>
          <p:nvPr/>
        </p:nvSpPr>
        <p:spPr>
          <a:xfrm>
            <a:off x="1051560" y="4663440"/>
            <a:ext cx="109440" cy="1051200"/>
          </a:xfrm>
          <a:prstGeom prst="rect">
            <a:avLst/>
          </a:prstGeom>
          <a:solidFill>
            <a:srgbClr val="b5535c"/>
          </a:solidFill>
          <a:ln w="12600">
            <a:solidFill>
              <a:srgbClr val="b553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34"/>
          <p:cNvSpPr/>
          <p:nvPr/>
        </p:nvSpPr>
        <p:spPr>
          <a:xfrm>
            <a:off x="1252800" y="4809600"/>
            <a:ext cx="9838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Design principle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35"/>
          <p:cNvSpPr/>
          <p:nvPr/>
        </p:nvSpPr>
        <p:spPr>
          <a:xfrm>
            <a:off x="1252800" y="5139000"/>
            <a:ext cx="9838440" cy="4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The standard benchmark is mandatory, stable, and automatically evaluable. Users do not need to provide analytical explanations unless they explicitly want paper-oriented examples.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36"/>
          <p:cNvSpPr/>
          <p:nvPr/>
        </p:nvSpPr>
        <p:spPr>
          <a:xfrm>
            <a:off x="548640" y="647388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Workflow | standard benchmark mode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Shape 0"/>
          <p:cNvSpPr/>
          <p:nvPr/>
        </p:nvSpPr>
        <p:spPr>
          <a:xfrm>
            <a:off x="0" y="0"/>
            <a:ext cx="12191400" cy="292320"/>
          </a:xfrm>
          <a:prstGeom prst="rect">
            <a:avLst/>
          </a:prstGeom>
          <a:solidFill>
            <a:srgbClr val="123b66"/>
          </a:solidFill>
          <a:ln w="12600">
            <a:solidFill>
              <a:srgbClr val="123b6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"/>
          <p:cNvSpPr/>
          <p:nvPr/>
        </p:nvSpPr>
        <p:spPr>
          <a:xfrm>
            <a:off x="548640" y="43884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1e7c86"/>
                </a:solidFill>
                <a:effectLst/>
                <a:uFillTx/>
                <a:latin typeface="Verdana"/>
                <a:ea typeface="Verdana"/>
              </a:rPr>
              <a:t>SCHEMA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2"/>
          <p:cNvSpPr/>
          <p:nvPr/>
        </p:nvSpPr>
        <p:spPr>
          <a:xfrm>
            <a:off x="548640" y="713160"/>
            <a:ext cx="8960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Canonical prediction schema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3"/>
          <p:cNvSpPr/>
          <p:nvPr/>
        </p:nvSpPr>
        <p:spPr>
          <a:xfrm>
            <a:off x="548640" y="1170360"/>
            <a:ext cx="9966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The benchmark keeps backward compatibility with the legacy prediction field while defining task-aware canonical outputs.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4"/>
          <p:cNvSpPr/>
          <p:nvPr/>
        </p:nvSpPr>
        <p:spPr>
          <a:xfrm>
            <a:off x="548640" y="1663920"/>
            <a:ext cx="11064240" cy="1080"/>
          </a:xfrm>
          <a:prstGeom prst="line">
            <a:avLst/>
          </a:prstGeom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3920" bIns="-4392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5"/>
          <p:cNvSpPr/>
          <p:nvPr/>
        </p:nvSpPr>
        <p:spPr>
          <a:xfrm>
            <a:off x="640080" y="1965960"/>
            <a:ext cx="5303160" cy="36115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6"/>
          <p:cNvSpPr/>
          <p:nvPr/>
        </p:nvSpPr>
        <p:spPr>
          <a:xfrm>
            <a:off x="640080" y="1965960"/>
            <a:ext cx="109440" cy="3611520"/>
          </a:xfrm>
          <a:prstGeom prst="rect">
            <a:avLst/>
          </a:prstGeom>
          <a:solidFill>
            <a:srgbClr val="1e7c86"/>
          </a:solidFill>
          <a:ln w="12600">
            <a:solidFill>
              <a:srgbClr val="1e7c8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7"/>
          <p:cNvSpPr/>
          <p:nvPr/>
        </p:nvSpPr>
        <p:spPr>
          <a:xfrm>
            <a:off x="841320" y="2112120"/>
            <a:ext cx="4992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Label-task prediction row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8"/>
          <p:cNvSpPr/>
          <p:nvPr/>
        </p:nvSpPr>
        <p:spPr>
          <a:xfrm>
            <a:off x="841320" y="2441520"/>
            <a:ext cx="4992120" cy="30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05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</p:txBody>
      </p:sp>
      <p:sp>
        <p:nvSpPr>
          <p:cNvPr id="205" name="Text 9"/>
          <p:cNvSpPr/>
          <p:nvPr/>
        </p:nvSpPr>
        <p:spPr>
          <a:xfrm>
            <a:off x="914400" y="2514600"/>
            <a:ext cx="4663080" cy="2651400"/>
          </a:xfrm>
          <a:prstGeom prst="rect">
            <a:avLst/>
          </a:prstGeom>
          <a:solidFill>
            <a:srgbClr val="f8fafd"/>
          </a:solidFill>
          <a:ln w="0">
            <a:solidFill>
              <a:srgbClr val="d7dee8"/>
            </a:solidFill>
          </a:ln>
        </p:spPr>
        <p:style>
          <a:lnRef idx="0"/>
          <a:fillRef idx="0"/>
          <a:effectRef idx="0"/>
          <a:fontRef idx="minor"/>
        </p:style>
        <p:txBody>
          <a:bodyPr lIns="2160" rIns="2160" tIns="2160" bIns="21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1f2a37"/>
                </a:solidFill>
                <a:effectLst/>
                <a:uFillTx/>
                <a:latin typeface="Courier New"/>
                <a:ea typeface="Courier New"/>
              </a:rPr>
              <a:t>{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1f2a37"/>
                </a:solidFill>
                <a:effectLst/>
                <a:uFillTx/>
                <a:latin typeface="Courier New"/>
                <a:ea typeface="Courier New"/>
              </a:rPr>
              <a:t>  "id": "task3_harmonic_function-000001",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1f2a37"/>
                </a:solidFill>
                <a:effectLst/>
                <a:uFillTx/>
                <a:latin typeface="Courier New"/>
                <a:ea typeface="Courier New"/>
              </a:rPr>
              <a:t>  "prediction_type": "label",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1f2a37"/>
                </a:solidFill>
                <a:effectLst/>
                <a:uFillTx/>
                <a:latin typeface="Courier New"/>
                <a:ea typeface="Courier New"/>
              </a:rPr>
              <a:t>  "prediction_label": "dominant",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1f2a37"/>
                </a:solidFill>
                <a:effectLst/>
                <a:uFillTx/>
                <a:latin typeface="Courier New"/>
                <a:ea typeface="Courier New"/>
              </a:rPr>
              <a:t>  "prediction_explanation": "optional",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1f2a37"/>
                </a:solidFill>
                <a:effectLst/>
                <a:uFillTx/>
                <a:latin typeface="Courier New"/>
                <a:ea typeface="Courier New"/>
              </a:rPr>
              <a:t>  "prediction": "dominant"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1f2a37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0"/>
          <p:cNvSpPr/>
          <p:nvPr/>
        </p:nvSpPr>
        <p:spPr>
          <a:xfrm>
            <a:off x="6217920" y="1965960"/>
            <a:ext cx="5348880" cy="36115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11"/>
          <p:cNvSpPr/>
          <p:nvPr/>
        </p:nvSpPr>
        <p:spPr>
          <a:xfrm>
            <a:off x="6217920" y="1965960"/>
            <a:ext cx="109440" cy="3611520"/>
          </a:xfrm>
          <a:prstGeom prst="rect">
            <a:avLst/>
          </a:prstGeom>
          <a:solidFill>
            <a:srgbClr val="c18a2d"/>
          </a:solidFill>
          <a:ln w="12600">
            <a:solidFill>
              <a:srgbClr val="c18a2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2"/>
          <p:cNvSpPr/>
          <p:nvPr/>
        </p:nvSpPr>
        <p:spPr>
          <a:xfrm>
            <a:off x="6419160" y="2112120"/>
            <a:ext cx="5037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Sequence-task prediction row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3"/>
          <p:cNvSpPr/>
          <p:nvPr/>
        </p:nvSpPr>
        <p:spPr>
          <a:xfrm>
            <a:off x="6419160" y="2441520"/>
            <a:ext cx="5037840" cy="30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05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</p:txBody>
      </p:sp>
      <p:sp>
        <p:nvSpPr>
          <p:cNvPr id="210" name="Text 14"/>
          <p:cNvSpPr/>
          <p:nvPr/>
        </p:nvSpPr>
        <p:spPr>
          <a:xfrm>
            <a:off x="6492240" y="2514600"/>
            <a:ext cx="4663080" cy="2651400"/>
          </a:xfrm>
          <a:prstGeom prst="rect">
            <a:avLst/>
          </a:prstGeom>
          <a:solidFill>
            <a:srgbClr val="f8fafd"/>
          </a:solidFill>
          <a:ln w="0">
            <a:solidFill>
              <a:srgbClr val="d7dee8"/>
            </a:solidFill>
          </a:ln>
        </p:spPr>
        <p:style>
          <a:lnRef idx="0"/>
          <a:fillRef idx="0"/>
          <a:effectRef idx="0"/>
          <a:fontRef idx="minor"/>
        </p:style>
        <p:txBody>
          <a:bodyPr lIns="2160" rIns="2160" tIns="2160" bIns="21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1f2a37"/>
                </a:solidFill>
                <a:effectLst/>
                <a:uFillTx/>
                <a:latin typeface="Courier New"/>
                <a:ea typeface="Courier New"/>
              </a:rPr>
              <a:t>{</a:t>
            </a:r>
            <a:endParaRPr b="0" lang="en-US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1f2a37"/>
                </a:solidFill>
                <a:effectLst/>
                <a:uFillTx/>
                <a:latin typeface="Courier New"/>
                <a:ea typeface="Courier New"/>
              </a:rPr>
              <a:t>  "id": "task4_transposition-000001",</a:t>
            </a:r>
            <a:endParaRPr b="0" lang="en-US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1f2a37"/>
                </a:solidFill>
                <a:effectLst/>
                <a:uFillTx/>
                <a:latin typeface="Courier New"/>
                <a:ea typeface="Courier New"/>
              </a:rPr>
              <a:t>  "prediction_type": "notes",</a:t>
            </a:r>
            <a:endParaRPr b="0" lang="en-US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1f2a37"/>
                </a:solidFill>
                <a:effectLst/>
                <a:uFillTx/>
                <a:latin typeface="Courier New"/>
                <a:ea typeface="Courier New"/>
              </a:rPr>
              <a:t>  "prediction_notes": "tokenized melody",</a:t>
            </a:r>
            <a:endParaRPr b="0" lang="en-US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1f2a37"/>
                </a:solidFill>
                <a:effectLst/>
                <a:uFillTx/>
                <a:latin typeface="Courier New"/>
                <a:ea typeface="Courier New"/>
              </a:rPr>
              <a:t>  "prediction_structured": [ ... ],</a:t>
            </a:r>
            <a:endParaRPr b="0" lang="en-US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1f2a37"/>
                </a:solidFill>
                <a:effectLst/>
                <a:uFillTx/>
                <a:latin typeface="Courier New"/>
                <a:ea typeface="Courier New"/>
              </a:rPr>
              <a:t>  "prediction": "tokenized melody"</a:t>
            </a:r>
            <a:endParaRPr b="0" lang="en-US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1f2a37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b="0" lang="en-US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5"/>
          <p:cNvSpPr/>
          <p:nvPr/>
        </p:nvSpPr>
        <p:spPr>
          <a:xfrm>
            <a:off x="548640" y="647388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Prediction schema | canonical fields with fallback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Shape 0"/>
          <p:cNvSpPr/>
          <p:nvPr/>
        </p:nvSpPr>
        <p:spPr>
          <a:xfrm>
            <a:off x="0" y="0"/>
            <a:ext cx="12191400" cy="292320"/>
          </a:xfrm>
          <a:prstGeom prst="rect">
            <a:avLst/>
          </a:prstGeom>
          <a:solidFill>
            <a:srgbClr val="123b66"/>
          </a:solidFill>
          <a:ln w="12600">
            <a:solidFill>
              <a:srgbClr val="123b6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1"/>
          <p:cNvSpPr/>
          <p:nvPr/>
        </p:nvSpPr>
        <p:spPr>
          <a:xfrm>
            <a:off x="548640" y="43884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1e7c86"/>
                </a:solidFill>
                <a:effectLst/>
                <a:uFillTx/>
                <a:latin typeface="Verdana"/>
                <a:ea typeface="Verdana"/>
              </a:rPr>
              <a:t>EVALUATION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2"/>
          <p:cNvSpPr/>
          <p:nvPr/>
        </p:nvSpPr>
        <p:spPr>
          <a:xfrm>
            <a:off x="548640" y="713160"/>
            <a:ext cx="8960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Automatic evaluation and result products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3"/>
          <p:cNvSpPr/>
          <p:nvPr/>
        </p:nvSpPr>
        <p:spPr>
          <a:xfrm>
            <a:off x="548640" y="1170360"/>
            <a:ext cx="9966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The standard evaluator covers all eight tasks while still allowing task-specific sequence analysis when needed.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4"/>
          <p:cNvSpPr/>
          <p:nvPr/>
        </p:nvSpPr>
        <p:spPr>
          <a:xfrm>
            <a:off x="548640" y="1663920"/>
            <a:ext cx="11064240" cy="1080"/>
          </a:xfrm>
          <a:prstGeom prst="line">
            <a:avLst/>
          </a:prstGeom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3920" bIns="-4392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5"/>
          <p:cNvSpPr/>
          <p:nvPr/>
        </p:nvSpPr>
        <p:spPr>
          <a:xfrm>
            <a:off x="640080" y="1965960"/>
            <a:ext cx="3748680" cy="35658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6"/>
          <p:cNvSpPr/>
          <p:nvPr/>
        </p:nvSpPr>
        <p:spPr>
          <a:xfrm>
            <a:off x="640080" y="1965960"/>
            <a:ext cx="109440" cy="3565800"/>
          </a:xfrm>
          <a:prstGeom prst="rect">
            <a:avLst/>
          </a:prstGeom>
          <a:solidFill>
            <a:srgbClr val="1e7c86"/>
          </a:solidFill>
          <a:ln w="12600">
            <a:solidFill>
              <a:srgbClr val="1e7c8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7"/>
          <p:cNvSpPr/>
          <p:nvPr/>
        </p:nvSpPr>
        <p:spPr>
          <a:xfrm>
            <a:off x="841320" y="2112120"/>
            <a:ext cx="34376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Core evaluator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8"/>
          <p:cNvSpPr/>
          <p:nvPr/>
        </p:nvSpPr>
        <p:spPr>
          <a:xfrm>
            <a:off x="841320" y="2441520"/>
            <a:ext cx="3437640" cy="298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eval_predictions.py unifies Tasks 1-8 and produces overall, by-task, and by-tokenizer summaries.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9"/>
          <p:cNvSpPr/>
          <p:nvPr/>
        </p:nvSpPr>
        <p:spPr>
          <a:xfrm>
            <a:off x="914400" y="2743200"/>
            <a:ext cx="315432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98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Tasks 1 and 2: exact match accuracy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0"/>
          <p:cNvSpPr/>
          <p:nvPr/>
        </p:nvSpPr>
        <p:spPr>
          <a:xfrm>
            <a:off x="914400" y="3099960"/>
            <a:ext cx="315432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98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Task 3: accuracy and macro F1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1"/>
          <p:cNvSpPr/>
          <p:nvPr/>
        </p:nvSpPr>
        <p:spPr>
          <a:xfrm>
            <a:off x="914400" y="3456360"/>
            <a:ext cx="315432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98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Task 4: exact match, pitch accuracy, interval preservation, rhythm preservation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12"/>
          <p:cNvSpPr/>
          <p:nvPr/>
        </p:nvSpPr>
        <p:spPr>
          <a:xfrm>
            <a:off x="914400" y="3813120"/>
            <a:ext cx="315432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98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Task 5: exact match and pitch accuracy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3"/>
          <p:cNvSpPr/>
          <p:nvPr/>
        </p:nvSpPr>
        <p:spPr>
          <a:xfrm>
            <a:off x="914400" y="4169520"/>
            <a:ext cx="315432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98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Task 6: exact match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4"/>
          <p:cNvSpPr/>
          <p:nvPr/>
        </p:nvSpPr>
        <p:spPr>
          <a:xfrm>
            <a:off x="914400" y="4526280"/>
            <a:ext cx="315432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98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Task 7: exact match, duration accuracy, bar validity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5"/>
          <p:cNvSpPr/>
          <p:nvPr/>
        </p:nvSpPr>
        <p:spPr>
          <a:xfrm>
            <a:off x="914400" y="4883040"/>
            <a:ext cx="315432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98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Task 8: accuracy and macro F1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16"/>
          <p:cNvSpPr/>
          <p:nvPr/>
        </p:nvSpPr>
        <p:spPr>
          <a:xfrm>
            <a:off x="4663440" y="1965960"/>
            <a:ext cx="3382920" cy="1691280"/>
          </a:xfrm>
          <a:prstGeom prst="roundRect">
            <a:avLst>
              <a:gd name="adj" fmla="val 4324"/>
            </a:avLst>
          </a:prstGeom>
          <a:solidFill>
            <a:srgbClr val="faf3e6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17"/>
          <p:cNvSpPr/>
          <p:nvPr/>
        </p:nvSpPr>
        <p:spPr>
          <a:xfrm>
            <a:off x="4663440" y="1965960"/>
            <a:ext cx="109440" cy="1691280"/>
          </a:xfrm>
          <a:prstGeom prst="rect">
            <a:avLst/>
          </a:prstGeom>
          <a:solidFill>
            <a:srgbClr val="c18a2d"/>
          </a:solidFill>
          <a:ln w="12600">
            <a:solidFill>
              <a:srgbClr val="c18a2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8"/>
          <p:cNvSpPr/>
          <p:nvPr/>
        </p:nvSpPr>
        <p:spPr>
          <a:xfrm>
            <a:off x="4864680" y="2112120"/>
            <a:ext cx="30718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Primary outputs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9"/>
          <p:cNvSpPr/>
          <p:nvPr/>
        </p:nvSpPr>
        <p:spPr>
          <a:xfrm>
            <a:off x="4864680" y="2441520"/>
            <a:ext cx="3071880" cy="11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overall.json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by_task.json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by_tokenizer.json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20"/>
          <p:cNvSpPr/>
          <p:nvPr/>
        </p:nvSpPr>
        <p:spPr>
          <a:xfrm>
            <a:off x="4663440" y="3840480"/>
            <a:ext cx="3382920" cy="1691280"/>
          </a:xfrm>
          <a:prstGeom prst="roundRect">
            <a:avLst>
              <a:gd name="adj" fmla="val 4324"/>
            </a:avLst>
          </a:prstGeom>
          <a:solidFill>
            <a:srgbClr val="f9ecee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21"/>
          <p:cNvSpPr/>
          <p:nvPr/>
        </p:nvSpPr>
        <p:spPr>
          <a:xfrm>
            <a:off x="4663440" y="3840480"/>
            <a:ext cx="109440" cy="1691280"/>
          </a:xfrm>
          <a:prstGeom prst="rect">
            <a:avLst/>
          </a:prstGeom>
          <a:solidFill>
            <a:srgbClr val="b5535c"/>
          </a:solidFill>
          <a:ln w="12600">
            <a:solidFill>
              <a:srgbClr val="b553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22"/>
          <p:cNvSpPr/>
          <p:nvPr/>
        </p:nvSpPr>
        <p:spPr>
          <a:xfrm>
            <a:off x="4864680" y="3986640"/>
            <a:ext cx="30718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Analysis outputs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23"/>
          <p:cNvSpPr/>
          <p:nvPr/>
        </p:nvSpPr>
        <p:spPr>
          <a:xfrm>
            <a:off x="4864680" y="4316040"/>
            <a:ext cx="3071880" cy="11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cases_with_outputs.json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summary.json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24"/>
          <p:cNvSpPr/>
          <p:nvPr/>
        </p:nvSpPr>
        <p:spPr>
          <a:xfrm>
            <a:off x="8275320" y="1965960"/>
            <a:ext cx="3291480" cy="3565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25"/>
          <p:cNvSpPr/>
          <p:nvPr/>
        </p:nvSpPr>
        <p:spPr>
          <a:xfrm>
            <a:off x="8275320" y="1965960"/>
            <a:ext cx="109440" cy="3565800"/>
          </a:xfrm>
          <a:prstGeom prst="rect">
            <a:avLst/>
          </a:prstGeom>
          <a:solidFill>
            <a:srgbClr val="2a8e5e"/>
          </a:solidFill>
          <a:ln w="12600">
            <a:solidFill>
              <a:srgbClr val="2a8e5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26"/>
          <p:cNvSpPr/>
          <p:nvPr/>
        </p:nvSpPr>
        <p:spPr>
          <a:xfrm>
            <a:off x="8476560" y="2112120"/>
            <a:ext cx="2980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Why this matters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27"/>
          <p:cNvSpPr/>
          <p:nvPr/>
        </p:nvSpPr>
        <p:spPr>
          <a:xfrm>
            <a:off x="8476560" y="2441520"/>
            <a:ext cx="2980440" cy="298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The benchmark can be tested with short, stable outputs. This keeps the main evaluation reproducible while leaving room for a second explanatory layer in the paper.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28"/>
          <p:cNvSpPr/>
          <p:nvPr/>
        </p:nvSpPr>
        <p:spPr>
          <a:xfrm>
            <a:off x="548640" y="647388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Evaluation | standard reporting and analysis outputs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Shape 0"/>
          <p:cNvSpPr/>
          <p:nvPr/>
        </p:nvSpPr>
        <p:spPr>
          <a:xfrm>
            <a:off x="0" y="0"/>
            <a:ext cx="12191400" cy="292320"/>
          </a:xfrm>
          <a:prstGeom prst="rect">
            <a:avLst/>
          </a:prstGeom>
          <a:solidFill>
            <a:srgbClr val="123b66"/>
          </a:solidFill>
          <a:ln w="12600">
            <a:solidFill>
              <a:srgbClr val="123b6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"/>
          <p:cNvSpPr/>
          <p:nvPr/>
        </p:nvSpPr>
        <p:spPr>
          <a:xfrm>
            <a:off x="548640" y="43884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1e7c86"/>
                </a:solidFill>
                <a:effectLst/>
                <a:uFillTx/>
                <a:latin typeface="Verdana"/>
                <a:ea typeface="Verdana"/>
              </a:rPr>
              <a:t>MUSICOLOGY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2"/>
          <p:cNvSpPr/>
          <p:nvPr/>
        </p:nvSpPr>
        <p:spPr>
          <a:xfrm>
            <a:off x="548640" y="713160"/>
            <a:ext cx="8960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Standard mode vs explanatory mode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3"/>
          <p:cNvSpPr/>
          <p:nvPr/>
        </p:nvSpPr>
        <p:spPr>
          <a:xfrm>
            <a:off x="548640" y="1170360"/>
            <a:ext cx="9966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The benchmark remains formally strict in standard mode and analytically richer in explanatory mode.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4"/>
          <p:cNvSpPr/>
          <p:nvPr/>
        </p:nvSpPr>
        <p:spPr>
          <a:xfrm>
            <a:off x="548640" y="1663920"/>
            <a:ext cx="11064240" cy="1080"/>
          </a:xfrm>
          <a:prstGeom prst="line">
            <a:avLst/>
          </a:prstGeom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3920" bIns="-4392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5"/>
          <p:cNvSpPr/>
          <p:nvPr/>
        </p:nvSpPr>
        <p:spPr>
          <a:xfrm>
            <a:off x="640080" y="1965960"/>
            <a:ext cx="5303160" cy="3337200"/>
          </a:xfrm>
          <a:prstGeom prst="roundRect">
            <a:avLst>
              <a:gd name="adj" fmla="val 2192"/>
            </a:avLst>
          </a:prstGeom>
          <a:solidFill>
            <a:srgbClr val="e9f5f6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6"/>
          <p:cNvSpPr/>
          <p:nvPr/>
        </p:nvSpPr>
        <p:spPr>
          <a:xfrm>
            <a:off x="640080" y="1965960"/>
            <a:ext cx="109440" cy="3337200"/>
          </a:xfrm>
          <a:prstGeom prst="rect">
            <a:avLst/>
          </a:prstGeom>
          <a:solidFill>
            <a:srgbClr val="1e7c86"/>
          </a:solidFill>
          <a:ln w="12600">
            <a:solidFill>
              <a:srgbClr val="1e7c8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7"/>
          <p:cNvSpPr/>
          <p:nvPr/>
        </p:nvSpPr>
        <p:spPr>
          <a:xfrm>
            <a:off x="841320" y="2112120"/>
            <a:ext cx="4992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Standard benchmark mode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8"/>
          <p:cNvSpPr/>
          <p:nvPr/>
        </p:nvSpPr>
        <p:spPr>
          <a:xfrm>
            <a:off x="841320" y="2441520"/>
            <a:ext cx="4992120" cy="27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05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</p:txBody>
      </p:sp>
      <p:sp>
        <p:nvSpPr>
          <p:cNvPr id="250" name="Text 9"/>
          <p:cNvSpPr/>
          <p:nvPr/>
        </p:nvSpPr>
        <p:spPr>
          <a:xfrm>
            <a:off x="914400" y="2560320"/>
            <a:ext cx="466308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2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Mandatory and documented first.</a:t>
            </a:r>
            <a:endParaRPr b="0" lang="en-US" sz="11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0"/>
          <p:cNvSpPr/>
          <p:nvPr/>
        </p:nvSpPr>
        <p:spPr>
          <a:xfrm>
            <a:off x="914400" y="3044880"/>
            <a:ext cx="466308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2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Aimed at non-expert users.</a:t>
            </a:r>
            <a:endParaRPr b="0" lang="en-US" sz="11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1"/>
          <p:cNvSpPr/>
          <p:nvPr/>
        </p:nvSpPr>
        <p:spPr>
          <a:xfrm>
            <a:off x="914400" y="3529440"/>
            <a:ext cx="466308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2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Stable outputs: prediction_label or prediction_notes.</a:t>
            </a:r>
            <a:endParaRPr b="0" lang="en-US" sz="11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2"/>
          <p:cNvSpPr/>
          <p:nvPr/>
        </p:nvSpPr>
        <p:spPr>
          <a:xfrm>
            <a:off x="914400" y="4014360"/>
            <a:ext cx="466308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2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Easy parsing and automatic scoring.</a:t>
            </a:r>
            <a:endParaRPr b="0" lang="en-US" sz="11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3"/>
          <p:cNvSpPr/>
          <p:nvPr/>
        </p:nvSpPr>
        <p:spPr>
          <a:xfrm>
            <a:off x="914400" y="4498920"/>
            <a:ext cx="466308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2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Best path for demos, tests, and reproducible evaluation.</a:t>
            </a:r>
            <a:endParaRPr b="0" lang="en-US" sz="11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14"/>
          <p:cNvSpPr/>
          <p:nvPr/>
        </p:nvSpPr>
        <p:spPr>
          <a:xfrm>
            <a:off x="6217920" y="1965960"/>
            <a:ext cx="5348880" cy="3337200"/>
          </a:xfrm>
          <a:prstGeom prst="roundRect">
            <a:avLst>
              <a:gd name="adj" fmla="val 2192"/>
            </a:avLst>
          </a:prstGeom>
          <a:solidFill>
            <a:srgbClr val="faf3e6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15"/>
          <p:cNvSpPr/>
          <p:nvPr/>
        </p:nvSpPr>
        <p:spPr>
          <a:xfrm>
            <a:off x="6217920" y="1965960"/>
            <a:ext cx="109440" cy="3337200"/>
          </a:xfrm>
          <a:prstGeom prst="rect">
            <a:avLst/>
          </a:prstGeom>
          <a:solidFill>
            <a:srgbClr val="c18a2d"/>
          </a:solidFill>
          <a:ln w="12600">
            <a:solidFill>
              <a:srgbClr val="c18a2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6"/>
          <p:cNvSpPr/>
          <p:nvPr/>
        </p:nvSpPr>
        <p:spPr>
          <a:xfrm>
            <a:off x="6419160" y="2112120"/>
            <a:ext cx="5037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Explanatory mode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7"/>
          <p:cNvSpPr/>
          <p:nvPr/>
        </p:nvSpPr>
        <p:spPr>
          <a:xfrm>
            <a:off x="6419160" y="2441520"/>
            <a:ext cx="5037840" cy="27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05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</p:txBody>
      </p:sp>
      <p:sp>
        <p:nvSpPr>
          <p:cNvPr id="259" name="Text 18"/>
          <p:cNvSpPr/>
          <p:nvPr/>
        </p:nvSpPr>
        <p:spPr>
          <a:xfrm>
            <a:off x="6492240" y="256032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1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Optional and paper-oriented.</a:t>
            </a:r>
            <a:endParaRPr b="0" lang="en-US" sz="11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9"/>
          <p:cNvSpPr/>
          <p:nvPr/>
        </p:nvSpPr>
        <p:spPr>
          <a:xfrm>
            <a:off x="6492240" y="301752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1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Keeps the same main output as standard mode.</a:t>
            </a:r>
            <a:endParaRPr b="0" lang="en-US" sz="11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0"/>
          <p:cNvSpPr/>
          <p:nvPr/>
        </p:nvSpPr>
        <p:spPr>
          <a:xfrm>
            <a:off x="6492240" y="347472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1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May add prediction_explanation for label tasks.</a:t>
            </a:r>
            <a:endParaRPr b="0" lang="en-US" sz="11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21"/>
          <p:cNvSpPr/>
          <p:nvPr/>
        </p:nvSpPr>
        <p:spPr>
          <a:xfrm>
            <a:off x="6492240" y="393192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1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Supports qualitative comparison between correctness and explanation quality.</a:t>
            </a:r>
            <a:endParaRPr b="0" lang="en-US" sz="11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22"/>
          <p:cNvSpPr/>
          <p:nvPr/>
        </p:nvSpPr>
        <p:spPr>
          <a:xfrm>
            <a:off x="6492240" y="438912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1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Should not become a dependency of the core benchmark metric.</a:t>
            </a:r>
            <a:endParaRPr b="0" lang="en-US" sz="11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23"/>
          <p:cNvSpPr/>
          <p:nvPr/>
        </p:nvSpPr>
        <p:spPr>
          <a:xfrm>
            <a:off x="1005840" y="5440680"/>
            <a:ext cx="10058040" cy="639720"/>
          </a:xfrm>
          <a:prstGeom prst="rect">
            <a:avLst/>
          </a:prstGeom>
          <a:solidFill>
            <a:srgbClr val="f8fafd"/>
          </a:solidFill>
          <a:ln w="0">
            <a:solidFill>
              <a:srgbClr val="d7dee8"/>
            </a:solidFill>
          </a:ln>
        </p:spPr>
        <p:style>
          <a:lnRef idx="0"/>
          <a:fillRef idx="0"/>
          <a:effectRef idx="0"/>
          <a:fontRef idx="minor"/>
        </p:style>
        <p:txBody>
          <a:bodyPr lIns="2160" rIns="2160" tIns="2160" bIns="21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1f2a37"/>
                </a:solidFill>
                <a:effectLst/>
                <a:uFillTx/>
                <a:latin typeface="Courier New"/>
                <a:ea typeface="Courier New"/>
              </a:rPr>
              <a:t>prediction_label = "dominant"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1f2a37"/>
                </a:solidFill>
                <a:effectLst/>
                <a:uFillTx/>
                <a:latin typeface="Courier New"/>
                <a:ea typeface="Courier New"/>
              </a:rPr>
              <a:t>prediction_explanation = "In C major, G functions as V and creates tension toward the tonic."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24"/>
          <p:cNvSpPr/>
          <p:nvPr/>
        </p:nvSpPr>
        <p:spPr>
          <a:xfrm>
            <a:off x="548640" y="647388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Musicology layer | standard and explanatory usage modes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Shape 0"/>
          <p:cNvSpPr/>
          <p:nvPr/>
        </p:nvSpPr>
        <p:spPr>
          <a:xfrm>
            <a:off x="0" y="0"/>
            <a:ext cx="12191400" cy="292320"/>
          </a:xfrm>
          <a:prstGeom prst="rect">
            <a:avLst/>
          </a:prstGeom>
          <a:solidFill>
            <a:srgbClr val="123b66"/>
          </a:solidFill>
          <a:ln w="12600">
            <a:solidFill>
              <a:srgbClr val="123b6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"/>
          <p:cNvSpPr/>
          <p:nvPr/>
        </p:nvSpPr>
        <p:spPr>
          <a:xfrm>
            <a:off x="548640" y="43884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1e7c86"/>
                </a:solidFill>
                <a:effectLst/>
                <a:uFillTx/>
                <a:latin typeface="Verdana"/>
                <a:ea typeface="Verdana"/>
              </a:rPr>
              <a:t>DIAGRAMS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2"/>
          <p:cNvSpPr/>
          <p:nvPr/>
        </p:nvSpPr>
        <p:spPr>
          <a:xfrm>
            <a:off x="548640" y="713160"/>
            <a:ext cx="8960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Use-case view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3"/>
          <p:cNvSpPr/>
          <p:nvPr/>
        </p:nvSpPr>
        <p:spPr>
          <a:xfrm>
            <a:off x="548640" y="1170360"/>
            <a:ext cx="9966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This view is useful when explaining who uses the benchmark and what each user type needs from it.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4"/>
          <p:cNvSpPr/>
          <p:nvPr/>
        </p:nvSpPr>
        <p:spPr>
          <a:xfrm>
            <a:off x="548640" y="1663920"/>
            <a:ext cx="11064240" cy="1080"/>
          </a:xfrm>
          <a:prstGeom prst="line">
            <a:avLst/>
          </a:prstGeom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3920" bIns="-4392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5"/>
          <p:cNvSpPr/>
          <p:nvPr/>
        </p:nvSpPr>
        <p:spPr>
          <a:xfrm>
            <a:off x="841320" y="2011680"/>
            <a:ext cx="1371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Actors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6"/>
          <p:cNvSpPr/>
          <p:nvPr/>
        </p:nvSpPr>
        <p:spPr>
          <a:xfrm>
            <a:off x="731520" y="2468880"/>
            <a:ext cx="2011320" cy="86832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7"/>
          <p:cNvSpPr/>
          <p:nvPr/>
        </p:nvSpPr>
        <p:spPr>
          <a:xfrm>
            <a:off x="877680" y="2633400"/>
            <a:ext cx="1718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Non-expert user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8"/>
          <p:cNvSpPr/>
          <p:nvPr/>
        </p:nvSpPr>
        <p:spPr>
          <a:xfrm>
            <a:off x="877680" y="2944440"/>
            <a:ext cx="17186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Runs and scores the standard benchmark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9"/>
          <p:cNvSpPr/>
          <p:nvPr/>
        </p:nvSpPr>
        <p:spPr>
          <a:xfrm>
            <a:off x="731520" y="3657600"/>
            <a:ext cx="2011320" cy="86832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0"/>
          <p:cNvSpPr/>
          <p:nvPr/>
        </p:nvSpPr>
        <p:spPr>
          <a:xfrm>
            <a:off x="877680" y="3822120"/>
            <a:ext cx="1718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Research user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1"/>
          <p:cNvSpPr/>
          <p:nvPr/>
        </p:nvSpPr>
        <p:spPr>
          <a:xfrm>
            <a:off x="877680" y="4133160"/>
            <a:ext cx="17186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Collects qualitative paper examples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2"/>
          <p:cNvSpPr/>
          <p:nvPr/>
        </p:nvSpPr>
        <p:spPr>
          <a:xfrm>
            <a:off x="731520" y="4846320"/>
            <a:ext cx="2011320" cy="86832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13"/>
          <p:cNvSpPr/>
          <p:nvPr/>
        </p:nvSpPr>
        <p:spPr>
          <a:xfrm>
            <a:off x="877680" y="5010840"/>
            <a:ext cx="1718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Model developer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4"/>
          <p:cNvSpPr/>
          <p:nvPr/>
        </p:nvSpPr>
        <p:spPr>
          <a:xfrm>
            <a:off x="877680" y="5321880"/>
            <a:ext cx="17186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Compares models and tokenizers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5"/>
          <p:cNvSpPr/>
          <p:nvPr/>
        </p:nvSpPr>
        <p:spPr>
          <a:xfrm>
            <a:off x="3429000" y="2011680"/>
            <a:ext cx="15541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Use cases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16"/>
          <p:cNvSpPr/>
          <p:nvPr/>
        </p:nvSpPr>
        <p:spPr>
          <a:xfrm>
            <a:off x="3291840" y="2468880"/>
            <a:ext cx="2742840" cy="868320"/>
          </a:xfrm>
          <a:prstGeom prst="roundRect">
            <a:avLst>
              <a:gd name="adj" fmla="val 8421"/>
            </a:avLst>
          </a:prstGeom>
          <a:solidFill>
            <a:srgbClr val="e9f5f6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17"/>
          <p:cNvSpPr/>
          <p:nvPr/>
        </p:nvSpPr>
        <p:spPr>
          <a:xfrm>
            <a:off x="3438000" y="2633400"/>
            <a:ext cx="2450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Run the standard benchmark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8"/>
          <p:cNvSpPr/>
          <p:nvPr/>
        </p:nvSpPr>
        <p:spPr>
          <a:xfrm>
            <a:off x="3438000" y="2944440"/>
            <a:ext cx="24501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Generate, run, evaluate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19"/>
          <p:cNvSpPr/>
          <p:nvPr/>
        </p:nvSpPr>
        <p:spPr>
          <a:xfrm>
            <a:off x="3291840" y="3657600"/>
            <a:ext cx="2742840" cy="868320"/>
          </a:xfrm>
          <a:prstGeom prst="roundRect">
            <a:avLst>
              <a:gd name="adj" fmla="val 8421"/>
            </a:avLst>
          </a:prstGeom>
          <a:solidFill>
            <a:srgbClr val="faf3e6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20"/>
          <p:cNvSpPr/>
          <p:nvPr/>
        </p:nvSpPr>
        <p:spPr>
          <a:xfrm>
            <a:off x="3438000" y="3822120"/>
            <a:ext cx="2450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Review annotated outputs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21"/>
          <p:cNvSpPr/>
          <p:nvPr/>
        </p:nvSpPr>
        <p:spPr>
          <a:xfrm>
            <a:off x="3438000" y="4133160"/>
            <a:ext cx="24501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Inspect hit_ground_truth and examples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22"/>
          <p:cNvSpPr/>
          <p:nvPr/>
        </p:nvSpPr>
        <p:spPr>
          <a:xfrm>
            <a:off x="3291840" y="4846320"/>
            <a:ext cx="2742840" cy="868320"/>
          </a:xfrm>
          <a:prstGeom prst="roundRect">
            <a:avLst>
              <a:gd name="adj" fmla="val 8421"/>
            </a:avLst>
          </a:prstGeom>
          <a:solidFill>
            <a:srgbClr val="f9ecee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23"/>
          <p:cNvSpPr/>
          <p:nvPr/>
        </p:nvSpPr>
        <p:spPr>
          <a:xfrm>
            <a:off x="3438000" y="5010840"/>
            <a:ext cx="2450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Compare tokenizers or models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24"/>
          <p:cNvSpPr/>
          <p:nvPr/>
        </p:nvSpPr>
        <p:spPr>
          <a:xfrm>
            <a:off x="3438000" y="5321880"/>
            <a:ext cx="24501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Benchmark engineering workflow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25"/>
          <p:cNvSpPr/>
          <p:nvPr/>
        </p:nvSpPr>
        <p:spPr>
          <a:xfrm>
            <a:off x="6583680" y="2468880"/>
            <a:ext cx="4571640" cy="86832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26"/>
          <p:cNvSpPr/>
          <p:nvPr/>
        </p:nvSpPr>
        <p:spPr>
          <a:xfrm>
            <a:off x="6729840" y="2633400"/>
            <a:ext cx="4278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Collect paper examples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27"/>
          <p:cNvSpPr/>
          <p:nvPr/>
        </p:nvSpPr>
        <p:spPr>
          <a:xfrm>
            <a:off x="6729840" y="2944440"/>
            <a:ext cx="42789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Use cases_with_outputs.json and summary.json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28"/>
          <p:cNvSpPr/>
          <p:nvPr/>
        </p:nvSpPr>
        <p:spPr>
          <a:xfrm>
            <a:off x="6583680" y="3657600"/>
            <a:ext cx="4571640" cy="86832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29"/>
          <p:cNvSpPr/>
          <p:nvPr/>
        </p:nvSpPr>
        <p:spPr>
          <a:xfrm>
            <a:off x="6729840" y="3822120"/>
            <a:ext cx="4278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Inspect analytical explanations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30"/>
          <p:cNvSpPr/>
          <p:nvPr/>
        </p:nvSpPr>
        <p:spPr>
          <a:xfrm>
            <a:off x="6729840" y="4133160"/>
            <a:ext cx="42789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Optional prediction_explanation for qualitative analysis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31"/>
          <p:cNvSpPr/>
          <p:nvPr/>
        </p:nvSpPr>
        <p:spPr>
          <a:xfrm>
            <a:off x="2743200" y="2907720"/>
            <a:ext cx="511920" cy="720"/>
          </a:xfrm>
          <a:prstGeom prst="line">
            <a:avLst/>
          </a:prstGeom>
          <a:ln w="12600">
            <a:solidFill>
              <a:srgbClr val="1e7c8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32"/>
          <p:cNvSpPr/>
          <p:nvPr/>
        </p:nvSpPr>
        <p:spPr>
          <a:xfrm>
            <a:off x="2743200" y="4096440"/>
            <a:ext cx="511920" cy="720"/>
          </a:xfrm>
          <a:prstGeom prst="line">
            <a:avLst/>
          </a:prstGeom>
          <a:ln w="12600">
            <a:solidFill>
              <a:srgbClr val="1e7c8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Shape 33"/>
          <p:cNvSpPr/>
          <p:nvPr/>
        </p:nvSpPr>
        <p:spPr>
          <a:xfrm>
            <a:off x="2743200" y="5285160"/>
            <a:ext cx="511920" cy="720"/>
          </a:xfrm>
          <a:prstGeom prst="line">
            <a:avLst/>
          </a:prstGeom>
          <a:ln w="12600">
            <a:solidFill>
              <a:srgbClr val="1e7c8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34"/>
          <p:cNvSpPr/>
          <p:nvPr/>
        </p:nvSpPr>
        <p:spPr>
          <a:xfrm>
            <a:off x="6035040" y="2907720"/>
            <a:ext cx="511920" cy="720"/>
          </a:xfrm>
          <a:prstGeom prst="line">
            <a:avLst/>
          </a:prstGeom>
          <a:ln w="12600">
            <a:solidFill>
              <a:srgbClr val="1e7c8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35"/>
          <p:cNvSpPr/>
          <p:nvPr/>
        </p:nvSpPr>
        <p:spPr>
          <a:xfrm>
            <a:off x="6035040" y="4096440"/>
            <a:ext cx="511920" cy="720"/>
          </a:xfrm>
          <a:prstGeom prst="line">
            <a:avLst/>
          </a:prstGeom>
          <a:ln w="12600">
            <a:solidFill>
              <a:srgbClr val="c18a2d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36"/>
          <p:cNvSpPr/>
          <p:nvPr/>
        </p:nvSpPr>
        <p:spPr>
          <a:xfrm>
            <a:off x="548640" y="647388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Use-case view | actors and benchmark goals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Shape 0"/>
          <p:cNvSpPr/>
          <p:nvPr/>
        </p:nvSpPr>
        <p:spPr>
          <a:xfrm>
            <a:off x="0" y="0"/>
            <a:ext cx="12191400" cy="292320"/>
          </a:xfrm>
          <a:prstGeom prst="rect">
            <a:avLst/>
          </a:prstGeom>
          <a:solidFill>
            <a:srgbClr val="123b66"/>
          </a:solidFill>
          <a:ln w="12600">
            <a:solidFill>
              <a:srgbClr val="123b6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1"/>
          <p:cNvSpPr/>
          <p:nvPr/>
        </p:nvSpPr>
        <p:spPr>
          <a:xfrm>
            <a:off x="548640" y="43884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1e7c86"/>
                </a:solidFill>
                <a:effectLst/>
                <a:uFillTx/>
                <a:latin typeface="Verdana"/>
                <a:ea typeface="Verdana"/>
              </a:rPr>
              <a:t>DIAGRAMS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2"/>
          <p:cNvSpPr/>
          <p:nvPr/>
        </p:nvSpPr>
        <p:spPr>
          <a:xfrm>
            <a:off x="548640" y="713160"/>
            <a:ext cx="8960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Sequence and component views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3"/>
          <p:cNvSpPr/>
          <p:nvPr/>
        </p:nvSpPr>
        <p:spPr>
          <a:xfrm>
            <a:off x="548640" y="1170360"/>
            <a:ext cx="9966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These views are useful in the paper and in technical walkthroughs because they separate runtime order from logical organization.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4"/>
          <p:cNvSpPr/>
          <p:nvPr/>
        </p:nvSpPr>
        <p:spPr>
          <a:xfrm>
            <a:off x="548640" y="1663920"/>
            <a:ext cx="11064240" cy="1080"/>
          </a:xfrm>
          <a:prstGeom prst="line">
            <a:avLst/>
          </a:prstGeom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3920" bIns="-4392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5"/>
          <p:cNvSpPr/>
          <p:nvPr/>
        </p:nvSpPr>
        <p:spPr>
          <a:xfrm>
            <a:off x="777240" y="1965960"/>
            <a:ext cx="2011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Runtime sequence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6"/>
          <p:cNvSpPr/>
          <p:nvPr/>
        </p:nvSpPr>
        <p:spPr>
          <a:xfrm>
            <a:off x="777240" y="2331720"/>
            <a:ext cx="105120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7"/>
          <p:cNvSpPr/>
          <p:nvPr/>
        </p:nvSpPr>
        <p:spPr>
          <a:xfrm>
            <a:off x="923400" y="2496240"/>
            <a:ext cx="758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User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8"/>
          <p:cNvSpPr/>
          <p:nvPr/>
        </p:nvSpPr>
        <p:spPr>
          <a:xfrm>
            <a:off x="923400" y="2752560"/>
            <a:ext cx="758520" cy="5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ctr">
            <a:noAutofit/>
          </a:bodyPr>
          <a:p>
            <a:endParaRPr b="0" lang="en-US" sz="95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</p:txBody>
      </p:sp>
      <p:sp>
        <p:nvSpPr>
          <p:cNvPr id="312" name="Shape 9"/>
          <p:cNvSpPr/>
          <p:nvPr/>
        </p:nvSpPr>
        <p:spPr>
          <a:xfrm>
            <a:off x="1307520" y="2926080"/>
            <a:ext cx="720" cy="1965960"/>
          </a:xfrm>
          <a:prstGeom prst="line">
            <a:avLst/>
          </a:prstGeom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10"/>
          <p:cNvSpPr/>
          <p:nvPr/>
        </p:nvSpPr>
        <p:spPr>
          <a:xfrm>
            <a:off x="2148840" y="2331720"/>
            <a:ext cx="105120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11"/>
          <p:cNvSpPr/>
          <p:nvPr/>
        </p:nvSpPr>
        <p:spPr>
          <a:xfrm>
            <a:off x="2295000" y="2496240"/>
            <a:ext cx="758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Generator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12"/>
          <p:cNvSpPr/>
          <p:nvPr/>
        </p:nvSpPr>
        <p:spPr>
          <a:xfrm>
            <a:off x="2295000" y="2752560"/>
            <a:ext cx="758520" cy="5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ctr">
            <a:noAutofit/>
          </a:bodyPr>
          <a:p>
            <a:endParaRPr b="0" lang="en-US" sz="95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</p:txBody>
      </p:sp>
      <p:sp>
        <p:nvSpPr>
          <p:cNvPr id="316" name="Shape 13"/>
          <p:cNvSpPr/>
          <p:nvPr/>
        </p:nvSpPr>
        <p:spPr>
          <a:xfrm>
            <a:off x="2679120" y="2926080"/>
            <a:ext cx="720" cy="1965960"/>
          </a:xfrm>
          <a:prstGeom prst="line">
            <a:avLst/>
          </a:prstGeom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14"/>
          <p:cNvSpPr/>
          <p:nvPr/>
        </p:nvSpPr>
        <p:spPr>
          <a:xfrm>
            <a:off x="3520440" y="2331720"/>
            <a:ext cx="105120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5"/>
          <p:cNvSpPr/>
          <p:nvPr/>
        </p:nvSpPr>
        <p:spPr>
          <a:xfrm>
            <a:off x="3666600" y="2496240"/>
            <a:ext cx="758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Views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16"/>
          <p:cNvSpPr/>
          <p:nvPr/>
        </p:nvSpPr>
        <p:spPr>
          <a:xfrm>
            <a:off x="3666600" y="2752560"/>
            <a:ext cx="758520" cy="5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ctr">
            <a:noAutofit/>
          </a:bodyPr>
          <a:p>
            <a:endParaRPr b="0" lang="en-US" sz="95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</p:txBody>
      </p:sp>
      <p:sp>
        <p:nvSpPr>
          <p:cNvPr id="320" name="Shape 17"/>
          <p:cNvSpPr/>
          <p:nvPr/>
        </p:nvSpPr>
        <p:spPr>
          <a:xfrm>
            <a:off x="4050720" y="2926080"/>
            <a:ext cx="720" cy="1965960"/>
          </a:xfrm>
          <a:prstGeom prst="line">
            <a:avLst/>
          </a:prstGeom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18"/>
          <p:cNvSpPr/>
          <p:nvPr/>
        </p:nvSpPr>
        <p:spPr>
          <a:xfrm>
            <a:off x="4892040" y="2331720"/>
            <a:ext cx="105120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9"/>
          <p:cNvSpPr/>
          <p:nvPr/>
        </p:nvSpPr>
        <p:spPr>
          <a:xfrm>
            <a:off x="5038200" y="2496240"/>
            <a:ext cx="758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Cases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20"/>
          <p:cNvSpPr/>
          <p:nvPr/>
        </p:nvSpPr>
        <p:spPr>
          <a:xfrm>
            <a:off x="5038200" y="2752560"/>
            <a:ext cx="758520" cy="5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ctr">
            <a:noAutofit/>
          </a:bodyPr>
          <a:p>
            <a:endParaRPr b="0" lang="en-US" sz="95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</p:txBody>
      </p:sp>
      <p:sp>
        <p:nvSpPr>
          <p:cNvPr id="324" name="Shape 21"/>
          <p:cNvSpPr/>
          <p:nvPr/>
        </p:nvSpPr>
        <p:spPr>
          <a:xfrm>
            <a:off x="5422320" y="2926080"/>
            <a:ext cx="720" cy="1965960"/>
          </a:xfrm>
          <a:prstGeom prst="line">
            <a:avLst/>
          </a:prstGeom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22"/>
          <p:cNvSpPr/>
          <p:nvPr/>
        </p:nvSpPr>
        <p:spPr>
          <a:xfrm>
            <a:off x="6263640" y="2331720"/>
            <a:ext cx="105120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23"/>
          <p:cNvSpPr/>
          <p:nvPr/>
        </p:nvSpPr>
        <p:spPr>
          <a:xfrm>
            <a:off x="6409800" y="2496240"/>
            <a:ext cx="758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Runner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24"/>
          <p:cNvSpPr/>
          <p:nvPr/>
        </p:nvSpPr>
        <p:spPr>
          <a:xfrm>
            <a:off x="6409800" y="2752560"/>
            <a:ext cx="758520" cy="5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ctr">
            <a:noAutofit/>
          </a:bodyPr>
          <a:p>
            <a:endParaRPr b="0" lang="en-US" sz="95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</p:txBody>
      </p:sp>
      <p:sp>
        <p:nvSpPr>
          <p:cNvPr id="328" name="Shape 25"/>
          <p:cNvSpPr/>
          <p:nvPr/>
        </p:nvSpPr>
        <p:spPr>
          <a:xfrm>
            <a:off x="6793920" y="2926080"/>
            <a:ext cx="720" cy="1965960"/>
          </a:xfrm>
          <a:prstGeom prst="line">
            <a:avLst/>
          </a:prstGeom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26"/>
          <p:cNvSpPr/>
          <p:nvPr/>
        </p:nvSpPr>
        <p:spPr>
          <a:xfrm>
            <a:off x="7635240" y="2331720"/>
            <a:ext cx="105120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27"/>
          <p:cNvSpPr/>
          <p:nvPr/>
        </p:nvSpPr>
        <p:spPr>
          <a:xfrm>
            <a:off x="7781400" y="2496240"/>
            <a:ext cx="758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Eval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8"/>
          <p:cNvSpPr/>
          <p:nvPr/>
        </p:nvSpPr>
        <p:spPr>
          <a:xfrm>
            <a:off x="7781400" y="2752560"/>
            <a:ext cx="758520" cy="5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ctr">
            <a:noAutofit/>
          </a:bodyPr>
          <a:p>
            <a:endParaRPr b="0" lang="en-US" sz="95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</p:txBody>
      </p:sp>
      <p:sp>
        <p:nvSpPr>
          <p:cNvPr id="332" name="Shape 29"/>
          <p:cNvSpPr/>
          <p:nvPr/>
        </p:nvSpPr>
        <p:spPr>
          <a:xfrm>
            <a:off x="8165520" y="2926080"/>
            <a:ext cx="720" cy="1965960"/>
          </a:xfrm>
          <a:prstGeom prst="line">
            <a:avLst/>
          </a:prstGeom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30"/>
          <p:cNvSpPr/>
          <p:nvPr/>
        </p:nvSpPr>
        <p:spPr>
          <a:xfrm>
            <a:off x="9006840" y="2331720"/>
            <a:ext cx="105120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31"/>
          <p:cNvSpPr/>
          <p:nvPr/>
        </p:nvSpPr>
        <p:spPr>
          <a:xfrm>
            <a:off x="9153000" y="2496240"/>
            <a:ext cx="758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Review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32"/>
          <p:cNvSpPr/>
          <p:nvPr/>
        </p:nvSpPr>
        <p:spPr>
          <a:xfrm>
            <a:off x="9153000" y="2752560"/>
            <a:ext cx="758520" cy="5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ctr">
            <a:noAutofit/>
          </a:bodyPr>
          <a:p>
            <a:endParaRPr b="0" lang="en-US" sz="95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</p:txBody>
      </p:sp>
      <p:sp>
        <p:nvSpPr>
          <p:cNvPr id="336" name="Shape 33"/>
          <p:cNvSpPr/>
          <p:nvPr/>
        </p:nvSpPr>
        <p:spPr>
          <a:xfrm>
            <a:off x="9537120" y="2926080"/>
            <a:ext cx="720" cy="1965960"/>
          </a:xfrm>
          <a:prstGeom prst="line">
            <a:avLst/>
          </a:prstGeom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34"/>
          <p:cNvSpPr/>
          <p:nvPr/>
        </p:nvSpPr>
        <p:spPr>
          <a:xfrm>
            <a:off x="1325880" y="3246120"/>
            <a:ext cx="822960" cy="720"/>
          </a:xfrm>
          <a:prstGeom prst="line">
            <a:avLst/>
          </a:prstGeom>
          <a:ln w="12600">
            <a:solidFill>
              <a:srgbClr val="1e7c8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35"/>
          <p:cNvSpPr/>
          <p:nvPr/>
        </p:nvSpPr>
        <p:spPr>
          <a:xfrm>
            <a:off x="2697480" y="3566160"/>
            <a:ext cx="822960" cy="720"/>
          </a:xfrm>
          <a:prstGeom prst="line">
            <a:avLst/>
          </a:prstGeom>
          <a:ln w="12600">
            <a:solidFill>
              <a:srgbClr val="1e7c8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36"/>
          <p:cNvSpPr/>
          <p:nvPr/>
        </p:nvSpPr>
        <p:spPr>
          <a:xfrm>
            <a:off x="4069080" y="3886200"/>
            <a:ext cx="822960" cy="720"/>
          </a:xfrm>
          <a:prstGeom prst="line">
            <a:avLst/>
          </a:prstGeom>
          <a:ln w="12600">
            <a:solidFill>
              <a:srgbClr val="1e7c8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37"/>
          <p:cNvSpPr/>
          <p:nvPr/>
        </p:nvSpPr>
        <p:spPr>
          <a:xfrm>
            <a:off x="5440680" y="4206240"/>
            <a:ext cx="822960" cy="720"/>
          </a:xfrm>
          <a:prstGeom prst="line">
            <a:avLst/>
          </a:prstGeom>
          <a:ln w="12600">
            <a:solidFill>
              <a:srgbClr val="1e7c8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Shape 38"/>
          <p:cNvSpPr/>
          <p:nvPr/>
        </p:nvSpPr>
        <p:spPr>
          <a:xfrm>
            <a:off x="6812280" y="4526280"/>
            <a:ext cx="822960" cy="720"/>
          </a:xfrm>
          <a:prstGeom prst="line">
            <a:avLst/>
          </a:prstGeom>
          <a:ln w="12600">
            <a:solidFill>
              <a:srgbClr val="1e7c8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39"/>
          <p:cNvSpPr/>
          <p:nvPr/>
        </p:nvSpPr>
        <p:spPr>
          <a:xfrm>
            <a:off x="6812280" y="4846320"/>
            <a:ext cx="2194560" cy="720"/>
          </a:xfrm>
          <a:prstGeom prst="line">
            <a:avLst/>
          </a:prstGeom>
          <a:ln w="12600">
            <a:solidFill>
              <a:srgbClr val="c18a2d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40"/>
          <p:cNvSpPr/>
          <p:nvPr/>
        </p:nvSpPr>
        <p:spPr>
          <a:xfrm>
            <a:off x="1490400" y="3127320"/>
            <a:ext cx="5482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generate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41"/>
          <p:cNvSpPr/>
          <p:nvPr/>
        </p:nvSpPr>
        <p:spPr>
          <a:xfrm>
            <a:off x="2853000" y="3447360"/>
            <a:ext cx="5482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export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42"/>
          <p:cNvSpPr/>
          <p:nvPr/>
        </p:nvSpPr>
        <p:spPr>
          <a:xfrm>
            <a:off x="4224600" y="3767400"/>
            <a:ext cx="5482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build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43"/>
          <p:cNvSpPr/>
          <p:nvPr/>
        </p:nvSpPr>
        <p:spPr>
          <a:xfrm>
            <a:off x="5605200" y="4087440"/>
            <a:ext cx="5482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run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44"/>
          <p:cNvSpPr/>
          <p:nvPr/>
        </p:nvSpPr>
        <p:spPr>
          <a:xfrm>
            <a:off x="6967800" y="4407480"/>
            <a:ext cx="5482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score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45"/>
          <p:cNvSpPr/>
          <p:nvPr/>
        </p:nvSpPr>
        <p:spPr>
          <a:xfrm>
            <a:off x="7425000" y="4727520"/>
            <a:ext cx="6397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annotate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46"/>
          <p:cNvSpPr/>
          <p:nvPr/>
        </p:nvSpPr>
        <p:spPr>
          <a:xfrm>
            <a:off x="9555480" y="1810440"/>
            <a:ext cx="18284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Component view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47"/>
          <p:cNvSpPr/>
          <p:nvPr/>
        </p:nvSpPr>
        <p:spPr>
          <a:xfrm>
            <a:off x="9464040" y="2880360"/>
            <a:ext cx="2057040" cy="566640"/>
          </a:xfrm>
          <a:prstGeom prst="roundRect">
            <a:avLst>
              <a:gd name="adj" fmla="val 12903"/>
            </a:avLst>
          </a:prstGeom>
          <a:solidFill>
            <a:srgbClr val="e9f5f6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48"/>
          <p:cNvSpPr/>
          <p:nvPr/>
        </p:nvSpPr>
        <p:spPr>
          <a:xfrm>
            <a:off x="9610200" y="3044880"/>
            <a:ext cx="1764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Theory logic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49"/>
          <p:cNvSpPr/>
          <p:nvPr/>
        </p:nvSpPr>
        <p:spPr>
          <a:xfrm>
            <a:off x="9610200" y="3337920"/>
            <a:ext cx="1764360" cy="1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rules.py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task_specs.py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musicology.py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50"/>
          <p:cNvSpPr/>
          <p:nvPr/>
        </p:nvSpPr>
        <p:spPr>
          <a:xfrm>
            <a:off x="9464040" y="3657600"/>
            <a:ext cx="2057040" cy="566640"/>
          </a:xfrm>
          <a:prstGeom prst="roundRect">
            <a:avLst>
              <a:gd name="adj" fmla="val 12903"/>
            </a:avLst>
          </a:prstGeom>
          <a:solidFill>
            <a:srgbClr val="faf3e6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51"/>
          <p:cNvSpPr/>
          <p:nvPr/>
        </p:nvSpPr>
        <p:spPr>
          <a:xfrm>
            <a:off x="9610200" y="3822120"/>
            <a:ext cx="1764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Representation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52"/>
          <p:cNvSpPr/>
          <p:nvPr/>
        </p:nvSpPr>
        <p:spPr>
          <a:xfrm>
            <a:off x="9610200" y="4115160"/>
            <a:ext cx="1764360" cy="1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render.py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tokenizers.py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predictions.py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53"/>
          <p:cNvSpPr/>
          <p:nvPr/>
        </p:nvSpPr>
        <p:spPr>
          <a:xfrm>
            <a:off x="9464040" y="4434840"/>
            <a:ext cx="2057040" cy="56664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54"/>
          <p:cNvSpPr/>
          <p:nvPr/>
        </p:nvSpPr>
        <p:spPr>
          <a:xfrm>
            <a:off x="9610200" y="4599360"/>
            <a:ext cx="1764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Execution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55"/>
          <p:cNvSpPr/>
          <p:nvPr/>
        </p:nvSpPr>
        <p:spPr>
          <a:xfrm>
            <a:off x="9610200" y="4892400"/>
            <a:ext cx="1764360" cy="1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build_model_io_json.py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model runners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56"/>
          <p:cNvSpPr/>
          <p:nvPr/>
        </p:nvSpPr>
        <p:spPr>
          <a:xfrm>
            <a:off x="9464040" y="5212080"/>
            <a:ext cx="2057040" cy="566640"/>
          </a:xfrm>
          <a:prstGeom prst="roundRect">
            <a:avLst>
              <a:gd name="adj" fmla="val 12903"/>
            </a:avLst>
          </a:prstGeom>
          <a:solidFill>
            <a:srgbClr val="f9ecee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57"/>
          <p:cNvSpPr/>
          <p:nvPr/>
        </p:nvSpPr>
        <p:spPr>
          <a:xfrm>
            <a:off x="9610200" y="5376600"/>
            <a:ext cx="1764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Analysis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58"/>
          <p:cNvSpPr/>
          <p:nvPr/>
        </p:nvSpPr>
        <p:spPr>
          <a:xfrm>
            <a:off x="9610200" y="5669640"/>
            <a:ext cx="1764360" cy="1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eval_predictions.py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annotate_model_outputs.py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59"/>
          <p:cNvSpPr/>
          <p:nvPr/>
        </p:nvSpPr>
        <p:spPr>
          <a:xfrm>
            <a:off x="548640" y="647388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Sequence and component views | runtime and logical organization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0"/>
          <p:cNvSpPr/>
          <p:nvPr/>
        </p:nvSpPr>
        <p:spPr>
          <a:xfrm>
            <a:off x="0" y="0"/>
            <a:ext cx="12191400" cy="292320"/>
          </a:xfrm>
          <a:prstGeom prst="rect">
            <a:avLst/>
          </a:prstGeom>
          <a:solidFill>
            <a:srgbClr val="123b66"/>
          </a:solidFill>
          <a:ln w="12600">
            <a:solidFill>
              <a:srgbClr val="123b6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"/>
          <p:cNvSpPr/>
          <p:nvPr/>
        </p:nvSpPr>
        <p:spPr>
          <a:xfrm>
            <a:off x="548640" y="43884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1e7c86"/>
                </a:solidFill>
                <a:effectLst/>
                <a:uFillTx/>
                <a:latin typeface="Verdana"/>
                <a:ea typeface="Verdana"/>
              </a:rPr>
              <a:t>PAPER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2"/>
          <p:cNvSpPr/>
          <p:nvPr/>
        </p:nvSpPr>
        <p:spPr>
          <a:xfrm>
            <a:off x="548640" y="713160"/>
            <a:ext cx="8960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Paper framing, contributions, and next steps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3"/>
          <p:cNvSpPr/>
          <p:nvPr/>
        </p:nvSpPr>
        <p:spPr>
          <a:xfrm>
            <a:off x="548640" y="1170360"/>
            <a:ext cx="9966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The project can now be presented as both a usable benchmark and a paper-ready research artifact.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4"/>
          <p:cNvSpPr/>
          <p:nvPr/>
        </p:nvSpPr>
        <p:spPr>
          <a:xfrm>
            <a:off x="548640" y="1663920"/>
            <a:ext cx="11064240" cy="1080"/>
          </a:xfrm>
          <a:prstGeom prst="line">
            <a:avLst/>
          </a:prstGeom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3920" bIns="-4392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5"/>
          <p:cNvSpPr/>
          <p:nvPr/>
        </p:nvSpPr>
        <p:spPr>
          <a:xfrm>
            <a:off x="640080" y="1965960"/>
            <a:ext cx="5303160" cy="36115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6"/>
          <p:cNvSpPr/>
          <p:nvPr/>
        </p:nvSpPr>
        <p:spPr>
          <a:xfrm>
            <a:off x="640080" y="1965960"/>
            <a:ext cx="109440" cy="3611520"/>
          </a:xfrm>
          <a:prstGeom prst="rect">
            <a:avLst/>
          </a:prstGeom>
          <a:solidFill>
            <a:srgbClr val="1e7c86"/>
          </a:solidFill>
          <a:ln w="12600">
            <a:solidFill>
              <a:srgbClr val="1e7c8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7"/>
          <p:cNvSpPr/>
          <p:nvPr/>
        </p:nvSpPr>
        <p:spPr>
          <a:xfrm>
            <a:off x="841320" y="2112120"/>
            <a:ext cx="4992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Paper framing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8"/>
          <p:cNvSpPr/>
          <p:nvPr/>
        </p:nvSpPr>
        <p:spPr>
          <a:xfrm>
            <a:off x="841320" y="2441520"/>
            <a:ext cx="4992120" cy="30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050" strike="noStrike" u="none">
              <a:solidFill>
                <a:schemeClr val="dk1"/>
              </a:solidFill>
              <a:effectLst/>
              <a:uFillTx/>
              <a:latin typeface="Verdana"/>
            </a:endParaRPr>
          </a:p>
        </p:txBody>
      </p:sp>
      <p:sp>
        <p:nvSpPr>
          <p:cNvPr id="372" name="Text 9"/>
          <p:cNvSpPr/>
          <p:nvPr/>
        </p:nvSpPr>
        <p:spPr>
          <a:xfrm>
            <a:off x="914400" y="256032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1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A symbolic benchmark for music theory and computational musicology.</a:t>
            </a:r>
            <a:endParaRPr b="0" lang="en-US" sz="11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0"/>
          <p:cNvSpPr/>
          <p:nvPr/>
        </p:nvSpPr>
        <p:spPr>
          <a:xfrm>
            <a:off x="914400" y="301752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1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A multi-task benchmark for symbolic musical reasoning.</a:t>
            </a:r>
            <a:endParaRPr b="0" lang="en-US" sz="11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11"/>
          <p:cNvSpPr/>
          <p:nvPr/>
        </p:nvSpPr>
        <p:spPr>
          <a:xfrm>
            <a:off x="914400" y="347472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1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Automatic formal evaluation with stable outputs.</a:t>
            </a:r>
            <a:endParaRPr b="0" lang="en-US" sz="11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12"/>
          <p:cNvSpPr/>
          <p:nvPr/>
        </p:nvSpPr>
        <p:spPr>
          <a:xfrm>
            <a:off x="914400" y="393192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1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Optional analytical explanation layer for qualitative analysis.</a:t>
            </a:r>
            <a:endParaRPr b="0" lang="en-US" sz="11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13"/>
          <p:cNvSpPr/>
          <p:nvPr/>
        </p:nvSpPr>
        <p:spPr>
          <a:xfrm>
            <a:off x="914400" y="438912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buClr>
                <a:srgbClr val="1f2a37"/>
              </a:buClr>
              <a:buFont typeface="Symbol" charset="2"/>
              <a:buChar char=""/>
            </a:pPr>
            <a:r>
              <a:rPr b="0" lang="en-US" sz="1110" strike="noStrike" u="none">
                <a:solidFill>
                  <a:srgbClr val="1f2a37"/>
                </a:solidFill>
                <a:effectLst/>
                <a:uFillTx/>
                <a:latin typeface="Verdana"/>
                <a:ea typeface="Verdana"/>
              </a:rPr>
              <a:t>Current V1 scope with planned extensions and not yet final theoretical coverage.</a:t>
            </a:r>
            <a:endParaRPr b="0" lang="en-US" sz="11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14"/>
          <p:cNvSpPr/>
          <p:nvPr/>
        </p:nvSpPr>
        <p:spPr>
          <a:xfrm>
            <a:off x="6217920" y="1965960"/>
            <a:ext cx="5348880" cy="1691280"/>
          </a:xfrm>
          <a:prstGeom prst="roundRect">
            <a:avLst>
              <a:gd name="adj" fmla="val 4324"/>
            </a:avLst>
          </a:prstGeom>
          <a:solidFill>
            <a:srgbClr val="faf3e6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15"/>
          <p:cNvSpPr/>
          <p:nvPr/>
        </p:nvSpPr>
        <p:spPr>
          <a:xfrm>
            <a:off x="6217920" y="1965960"/>
            <a:ext cx="109440" cy="1691280"/>
          </a:xfrm>
          <a:prstGeom prst="rect">
            <a:avLst/>
          </a:prstGeom>
          <a:solidFill>
            <a:srgbClr val="c18a2d"/>
          </a:solidFill>
          <a:ln w="12600">
            <a:solidFill>
              <a:srgbClr val="c18a2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16"/>
          <p:cNvSpPr/>
          <p:nvPr/>
        </p:nvSpPr>
        <p:spPr>
          <a:xfrm>
            <a:off x="6419160" y="2112120"/>
            <a:ext cx="5037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Research claims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17"/>
          <p:cNvSpPr/>
          <p:nvPr/>
        </p:nvSpPr>
        <p:spPr>
          <a:xfrm>
            <a:off x="6419160" y="2441520"/>
            <a:ext cx="5037840" cy="11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Operationalization of music-theory concepts, benchmark design for symbolic reasoning, and comparison between structural accuracy and explanation quality.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18"/>
          <p:cNvSpPr/>
          <p:nvPr/>
        </p:nvSpPr>
        <p:spPr>
          <a:xfrm>
            <a:off x="6217920" y="3840480"/>
            <a:ext cx="5348880" cy="1691280"/>
          </a:xfrm>
          <a:prstGeom prst="roundRect">
            <a:avLst>
              <a:gd name="adj" fmla="val 4324"/>
            </a:avLst>
          </a:prstGeom>
          <a:solidFill>
            <a:srgbClr val="f9ecee"/>
          </a:solidFill>
          <a:ln w="12600">
            <a:solidFill>
              <a:srgbClr val="d7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Shape 19"/>
          <p:cNvSpPr/>
          <p:nvPr/>
        </p:nvSpPr>
        <p:spPr>
          <a:xfrm>
            <a:off x="6217920" y="3840480"/>
            <a:ext cx="109440" cy="1691280"/>
          </a:xfrm>
          <a:prstGeom prst="rect">
            <a:avLst/>
          </a:prstGeom>
          <a:solidFill>
            <a:srgbClr val="b5535c"/>
          </a:solidFill>
          <a:ln w="12600">
            <a:solidFill>
              <a:srgbClr val="b553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20"/>
          <p:cNvSpPr/>
          <p:nvPr/>
        </p:nvSpPr>
        <p:spPr>
          <a:xfrm>
            <a:off x="6419160" y="3986640"/>
            <a:ext cx="5037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f2a37"/>
                </a:solidFill>
                <a:effectLst/>
                <a:uFillTx/>
                <a:latin typeface="Georgia"/>
                <a:ea typeface="Georgia"/>
              </a:rPr>
              <a:t>Next steps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21"/>
          <p:cNvSpPr/>
          <p:nvPr/>
        </p:nvSpPr>
        <p:spPr>
          <a:xfrm>
            <a:off x="6419160" y="4316040"/>
            <a:ext cx="5037840" cy="11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Finish API integration, run benchmark experiments, collect explanatory examples, and refine paper and presentation together.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22"/>
          <p:cNvSpPr/>
          <p:nvPr/>
        </p:nvSpPr>
        <p:spPr>
          <a:xfrm>
            <a:off x="548640" y="647388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5c6775"/>
                </a:solidFill>
                <a:effectLst/>
                <a:uFillTx/>
                <a:latin typeface="Verdana"/>
                <a:ea typeface="Verdana"/>
              </a:rPr>
              <a:t>Paper framing | benchmark and scientific contribution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LibreOffice/25.8.1.1$MacOSX_AARCH64 LibreOffice_project/54047653041915e595ad4e45cccea684809c77b5</Application>
  <AppVersion>15.0000</AppVersion>
  <Company>UPF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2026-03-17T19:01:09Z</dcterms:created>
  <dc:creator>ASMCM</dc:creator>
  <dc:description/>
  <dc:language>en-US</dc:language>
  <cp:lastModifiedBy>ASMCM</cp:lastModifiedBy>
  <dcterms:modified xsi:type="dcterms:W3CDTF">2026-03-17T19:01:09Z</dcterms:modified>
  <cp:revision>1</cp:revision>
  <dc:subject>Symbolic music benchmark paper proposal</dc:subject>
  <dc:title>Symbolic Music Benchmark for Music Theory and Computational Musicology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13</vt:r8>
  </property>
  <property fmtid="{D5CDD505-2E9C-101B-9397-08002B2CF9AE}" pid="3" name="PresentationFormat">
    <vt:lpwstr>On-screen Show (16:9)</vt:lpwstr>
  </property>
  <property fmtid="{D5CDD505-2E9C-101B-9397-08002B2CF9AE}" pid="4" name="Slides">
    <vt:r8>13</vt:r8>
  </property>
</Properties>
</file>