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822960"/>
            <a:ext cx="164592" cy="4754880"/>
          </a:xfrm>
          <a:prstGeom prst="rect">
            <a:avLst/>
          </a:prstGeom>
          <a:solidFill>
            <a:srgbClr val="1E7C86"/>
          </a:solidFill>
          <a:ln w="12700">
            <a:solidFill>
              <a:srgbClr val="1E7C8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9601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C8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Symbolic Music Benchmark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87552" y="141732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Theory and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Computational Musicology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" y="30632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benchmark with classification and transformation tasks, automatic formal evaluation, and an optional analytical explanation layer.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26680" y="1097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26680" y="1097280"/>
            <a:ext cx="109728" cy="1417320"/>
          </a:xfrm>
          <a:prstGeom prst="rect">
            <a:avLst/>
          </a:prstGeom>
          <a:solidFill>
            <a:srgbClr val="1E7C86"/>
          </a:solidFill>
          <a:ln w="12700">
            <a:solidFill>
              <a:srgbClr val="1E7C8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27848" y="1243584"/>
            <a:ext cx="3300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benchmark mode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27848" y="1572768"/>
            <a:ext cx="3300984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Mandatory and easy to test. Outputs are prediction_label or prediction_notes, with clean automatic evaluation for non-expert users.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26680" y="2743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26680" y="2743200"/>
            <a:ext cx="109728" cy="1417320"/>
          </a:xfrm>
          <a:prstGeom prst="rect">
            <a:avLst/>
          </a:prstGeom>
          <a:solidFill>
            <a:srgbClr val="C18A2D"/>
          </a:solidFill>
          <a:ln w="12700">
            <a:solidFill>
              <a:srgbClr val="C18A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7848" y="2889504"/>
            <a:ext cx="3300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Explanatory mode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27848" y="3218688"/>
            <a:ext cx="3300984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Optional and paper-oriented. prediction_explanation is preserved for qualitative analysis without destabilizing the main benchmark.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26680" y="438912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4389120"/>
            <a:ext cx="109728" cy="1234440"/>
          </a:xfrm>
          <a:prstGeom prst="rect">
            <a:avLst/>
          </a:prstGeom>
          <a:solidFill>
            <a:srgbClr val="B5535C"/>
          </a:solidFill>
          <a:ln w="12700">
            <a:solidFill>
              <a:srgbClr val="B5535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27848" y="4535424"/>
            <a:ext cx="3300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use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27848" y="4864608"/>
            <a:ext cx="3300984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Editable .pptx deck designed to be imported into Google Slides for collaboration.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midi_agent | paper proposal deck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C8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symbolic music-theory benchmark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project needs to be useful as software, but also legible as a scientific contribution.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53035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65960"/>
            <a:ext cx="109728" cy="3520440"/>
          </a:xfrm>
          <a:prstGeom prst="rect">
            <a:avLst/>
          </a:prstGeom>
          <a:solidFill>
            <a:srgbClr val="1E7C86"/>
          </a:solidFill>
          <a:ln w="12700">
            <a:solidFill>
              <a:srgbClr val="1E7C8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112264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symbolic benchmarking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2441448"/>
            <a:ext cx="4992624" cy="2935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It operationalizes musical relationships that can be verified with rule-based logic.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08152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It avoids the ambiguity of audio-only evaluation in a first benchmark release.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364845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It lets us compare models on musically meaningful structure rather than surface text alone.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42153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It creates a reproducible benchmark that non-expert users can run end to end.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96596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AF3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965960"/>
            <a:ext cx="109728" cy="1508760"/>
          </a:xfrm>
          <a:prstGeom prst="rect">
            <a:avLst/>
          </a:prstGeom>
          <a:solidFill>
            <a:srgbClr val="C18A2D"/>
          </a:solidFill>
          <a:ln w="12700">
            <a:solidFill>
              <a:srgbClr val="C18A2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2112264"/>
            <a:ext cx="5038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value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19088" y="2441448"/>
            <a:ext cx="5038344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benchmark can support a paper on symbolic musical reasoning, music-theory operationalization, and the gap between structural correctness and analytical explanation.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9ECE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657600"/>
            <a:ext cx="109728" cy="1828800"/>
          </a:xfrm>
          <a:prstGeom prst="rect">
            <a:avLst/>
          </a:prstGeom>
          <a:solidFill>
            <a:srgbClr val="B5535C"/>
          </a:solidFill>
          <a:ln w="12700">
            <a:solidFill>
              <a:srgbClr val="B5535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3803904"/>
            <a:ext cx="5038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design principle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19088" y="4133088"/>
            <a:ext cx="5038344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the standard benchmark simple, testable, and automatically evaluable. Add interpretation as a second layer instead of forcing every run to produce discursive prose.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Motivation | benchmark + paper framing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C8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families and benchmark outputs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benchmark covers eight tasks split into label classification and symbolic sequence transformation.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5303520" cy="2834640"/>
          </a:xfrm>
          <a:prstGeom prst="roundRect">
            <a:avLst>
              <a:gd name="adj" fmla="val 2581"/>
            </a:avLst>
          </a:prstGeom>
          <a:solidFill>
            <a:srgbClr val="E9F5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65960"/>
            <a:ext cx="109728" cy="2834640"/>
          </a:xfrm>
          <a:prstGeom prst="rect">
            <a:avLst/>
          </a:prstGeom>
          <a:solidFill>
            <a:srgbClr val="1E7C86"/>
          </a:solidFill>
          <a:ln w="12700">
            <a:solidFill>
              <a:srgbClr val="1E7C8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112264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classification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2441448"/>
            <a:ext cx="4992624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 1: Interval Identification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288950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 2: Chord Identification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331012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 3: Harmonic Function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37307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 8: Voice-Leading Violation Detection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415137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Main output: prediction_label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96596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AF3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965960"/>
            <a:ext cx="109728" cy="2834640"/>
          </a:xfrm>
          <a:prstGeom prst="rect">
            <a:avLst/>
          </a:prstGeom>
          <a:solidFill>
            <a:srgbClr val="C18A2D"/>
          </a:solidFill>
          <a:ln w="12700">
            <a:solidFill>
              <a:srgbClr val="C18A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2112264"/>
            <a:ext cx="5038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transformation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9088" y="2441448"/>
            <a:ext cx="5038344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9224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 4: Transposition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649224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 5: Melodic Inversion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49224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 6: Retrograde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49224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 7: Rhythmic Augmentation or Diminution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49224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Main output: prediction_notes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649224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Optional output: prediction_structured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40080" y="5120640"/>
            <a:ext cx="10927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120640"/>
            <a:ext cx="109728" cy="868680"/>
          </a:xfrm>
          <a:prstGeom prst="rect">
            <a:avLst/>
          </a:prstGeom>
          <a:solidFill>
            <a:srgbClr val="B5535C"/>
          </a:solidFill>
          <a:ln w="12700">
            <a:solidFill>
              <a:srgbClr val="B5535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5266944"/>
            <a:ext cx="10616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Usage modes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1248" y="5596128"/>
            <a:ext cx="10616184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Standard mode is the default benchmark path. Explanatory mode is optional and preserves prediction_explanation for qualitative paper analysis.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Benchmark tasks | label and sequence outputs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C8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V1 scope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benchmark should present these constraints as an intentional V1 boundary for reproducible evaluation.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65960"/>
            <a:ext cx="109728" cy="1417320"/>
          </a:xfrm>
          <a:prstGeom prst="rect">
            <a:avLst/>
          </a:prstGeom>
          <a:solidFill>
            <a:srgbClr val="1E7C86"/>
          </a:solidFill>
          <a:ln w="12700">
            <a:solidFill>
              <a:srgbClr val="1E7C8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11226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Harmonic function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2441448"/>
            <a:ext cx="2432304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Major mode only in V1, with three coarse labels: tonic, predominant, dominant.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11880" y="196596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965960"/>
            <a:ext cx="109728" cy="1417320"/>
          </a:xfrm>
          <a:prstGeom prst="rect">
            <a:avLst/>
          </a:prstGeom>
          <a:solidFill>
            <a:srgbClr val="C18A2D"/>
          </a:solidFill>
          <a:ln w="12700">
            <a:solidFill>
              <a:srgbClr val="C18A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3048" y="211226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Voice-leading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13048" y="2441448"/>
            <a:ext cx="2432304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Two-voice simplification in V1, with labels limited to parallel_fifths, voice_crossing, and none.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0" y="19659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965960"/>
            <a:ext cx="109728" cy="1417320"/>
          </a:xfrm>
          <a:prstGeom prst="rect">
            <a:avLst/>
          </a:prstGeom>
          <a:solidFill>
            <a:srgbClr val="B5535C"/>
          </a:solidFill>
          <a:ln w="12700">
            <a:solidFill>
              <a:srgbClr val="B5535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848" y="2112264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Harmony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84848" y="2441448"/>
            <a:ext cx="2340864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Reduced chord vocabulary focused on major, minor, diminished, augmented, and dominant7.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464040" y="196596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64040" y="1965960"/>
            <a:ext cx="109728" cy="1417320"/>
          </a:xfrm>
          <a:prstGeom prst="rect">
            <a:avLst/>
          </a:prstGeom>
          <a:solidFill>
            <a:srgbClr val="2A8E5E"/>
          </a:solidFill>
          <a:ln w="12700">
            <a:solidFill>
              <a:srgbClr val="2A8E5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65208" y="2112264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65208" y="2441448"/>
            <a:ext cx="1792224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Symbolic music only, not audio.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749040"/>
            <a:ext cx="10927080" cy="1508760"/>
          </a:xfrm>
          <a:prstGeom prst="roundRect">
            <a:avLst>
              <a:gd name="adj" fmla="val 4848"/>
            </a:avLst>
          </a:prstGeom>
          <a:solidFill>
            <a:srgbClr val="E9F5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49040"/>
            <a:ext cx="109728" cy="1508760"/>
          </a:xfrm>
          <a:prstGeom prst="rect">
            <a:avLst/>
          </a:prstGeom>
          <a:solidFill>
            <a:srgbClr val="1E7C86"/>
          </a:solidFill>
          <a:ln w="12700">
            <a:solidFill>
              <a:srgbClr val="1E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3895344"/>
            <a:ext cx="10616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Interpretation of scope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1248" y="4224528"/>
            <a:ext cx="10616184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These are not arbitrary simplifications. They define a current V1 benchmark slice that is narrow enough to be stable, testable, and easy to document, while still being broad enough to support a real discussion in music theory and computational musicology.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Current V1 scope | constrained but defensible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C8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Planned extensions and not yet final theoretical coverage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current benchmark is scientifically usable now, but it should not be framed as the final boundary of the paper.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65960"/>
            <a:ext cx="109728" cy="3291840"/>
          </a:xfrm>
          <a:prstGeom prst="rect">
            <a:avLst/>
          </a:prstGeom>
          <a:solidFill>
            <a:srgbClr val="C18A2D"/>
          </a:solidFill>
          <a:ln w="12700">
            <a:solidFill>
              <a:srgbClr val="C18A2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112264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Planned extensions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2441448"/>
            <a:ext cx="5175504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256032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Extend harmonic-function coverage beyond major mode.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960120" y="307238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Extend voice-leading analysis beyond two voices.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60120" y="3584448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Expand the harmonic vocabulary and chord-template inventory.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60120" y="409651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Study richer analytical explanations and explanation quality.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960120" y="4608576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Broaden the comparison between standard accuracy and interpretive capacity.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400800" y="196596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9ECE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965960"/>
            <a:ext cx="109728" cy="1691640"/>
          </a:xfrm>
          <a:prstGeom prst="rect">
            <a:avLst/>
          </a:prstGeom>
          <a:solidFill>
            <a:srgbClr val="B5535C"/>
          </a:solidFill>
          <a:ln w="12700">
            <a:solidFill>
              <a:srgbClr val="B5535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2112264"/>
            <a:ext cx="4855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yet final theoretical coverage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01968" y="2441448"/>
            <a:ext cx="485546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paper should describe the current benchmark as a V1 slice, not as exhaustive tonal or musicological coverage.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388620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AF3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886200"/>
            <a:ext cx="109728" cy="1371600"/>
          </a:xfrm>
          <a:prstGeom prst="rect">
            <a:avLst/>
          </a:prstGeom>
          <a:solidFill>
            <a:srgbClr val="C18A2D"/>
          </a:solidFill>
          <a:ln w="12700">
            <a:solidFill>
              <a:srgbClr val="C18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1968" y="4032504"/>
            <a:ext cx="4855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wording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01968" y="4361688"/>
            <a:ext cx="485546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Current V1 scope. Planned extensions. Not yet final theoretical coverage.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Planned extensions | future-facing wording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C8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pipeline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benchmark is organized as a rule-based generation and evaluation pipeline around tokenizer views and model-ready cases.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7432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2907792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2104" y="3218688"/>
            <a:ext cx="1627632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rules.py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task_specs.py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musicology.py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0" y="27432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2907792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benchmark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89504" y="3218688"/>
            <a:ext cx="1627632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gen_zero_shot.py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raw note-level jsonl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27432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46904" y="2907792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Views and cases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46904" y="3218688"/>
            <a:ext cx="1627632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export_views.py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build_model_io_json.py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0" y="27432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04304" y="2907792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runners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04304" y="3218688"/>
            <a:ext cx="1627632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run_api_model_list.py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run_ollama_model_list.py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15400" y="27432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61704" y="2907792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61704" y="3218688"/>
            <a:ext cx="1627632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eval_predictions.py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annotate_model_outputs.py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06040" y="3310128"/>
            <a:ext cx="137160" cy="0"/>
          </a:xfrm>
          <a:prstGeom prst="line">
            <a:avLst/>
          </a:prstGeom>
          <a:noFill/>
          <a:ln w="12700">
            <a:solidFill>
              <a:srgbClr val="1E7C8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663440" y="3310128"/>
            <a:ext cx="137160" cy="0"/>
          </a:xfrm>
          <a:prstGeom prst="line">
            <a:avLst/>
          </a:prstGeom>
          <a:noFill/>
          <a:ln w="12700">
            <a:solidFill>
              <a:srgbClr val="1E7C8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720840" y="3310128"/>
            <a:ext cx="137160" cy="0"/>
          </a:xfrm>
          <a:prstGeom prst="line">
            <a:avLst/>
          </a:prstGeom>
          <a:noFill/>
          <a:ln w="12700">
            <a:solidFill>
              <a:srgbClr val="1E7C8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778240" y="3310128"/>
            <a:ext cx="137160" cy="0"/>
          </a:xfrm>
          <a:prstGeom prst="line">
            <a:avLst/>
          </a:prstGeom>
          <a:noFill/>
          <a:ln w="12700">
            <a:solidFill>
              <a:srgbClr val="1E7C8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85800" y="4617720"/>
            <a:ext cx="10149840" cy="1097280"/>
          </a:xfrm>
          <a:prstGeom prst="roundRect">
            <a:avLst>
              <a:gd name="adj" fmla="val 6667"/>
            </a:avLst>
          </a:prstGeom>
          <a:solidFill>
            <a:srgbClr val="E9F5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617720"/>
            <a:ext cx="109728" cy="1097280"/>
          </a:xfrm>
          <a:prstGeom prst="rect">
            <a:avLst/>
          </a:prstGeom>
          <a:solidFill>
            <a:srgbClr val="1E7C86"/>
          </a:solidFill>
          <a:ln w="12700">
            <a:solidFill>
              <a:srgbClr val="1E7C8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" y="4764024"/>
            <a:ext cx="9838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products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86968" y="5093208"/>
            <a:ext cx="98389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standard path produces predictions.jsonl, overall.json, by_task.json, and by_tokenizer.json. The analysis path adds cases_with_outputs.json and summary.json.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Architecture | benchmark pipeline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C8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benchmark workflow for non-expert users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default path should be simple enough to document in a user guide and easy enough to run without deep repository knowledge.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74320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907792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3218688"/>
            <a:ext cx="1078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gen_zero_shot.py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03120" y="3291840"/>
            <a:ext cx="219456" cy="0"/>
          </a:xfrm>
          <a:prstGeom prst="line">
            <a:avLst/>
          </a:prstGeom>
          <a:noFill/>
          <a:ln w="12700">
            <a:solidFill>
              <a:srgbClr val="C18A2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77440" y="274320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FAF3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2907792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23744" y="3218688"/>
            <a:ext cx="1078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export_views.py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49040" y="3291840"/>
            <a:ext cx="219456" cy="0"/>
          </a:xfrm>
          <a:prstGeom prst="line">
            <a:avLst/>
          </a:prstGeom>
          <a:noFill/>
          <a:ln w="12700">
            <a:solidFill>
              <a:srgbClr val="C18A2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023360" y="274320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9664" y="2907792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69664" y="3218688"/>
            <a:ext cx="1078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validate_views.py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94960" y="3291840"/>
            <a:ext cx="219456" cy="0"/>
          </a:xfrm>
          <a:prstGeom prst="line">
            <a:avLst/>
          </a:prstGeom>
          <a:noFill/>
          <a:ln w="12700">
            <a:solidFill>
              <a:srgbClr val="C18A2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69280" y="274320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FAF3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15584" y="2907792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15584" y="3218688"/>
            <a:ext cx="1078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build_model_io_json.py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40880" y="3291840"/>
            <a:ext cx="219456" cy="0"/>
          </a:xfrm>
          <a:prstGeom prst="line">
            <a:avLst/>
          </a:prstGeom>
          <a:noFill/>
          <a:ln w="12700">
            <a:solidFill>
              <a:srgbClr val="C18A2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15200" y="274320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61504" y="2907792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61504" y="3218688"/>
            <a:ext cx="1078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run_api_model_list.py or run_ollama_model_list.py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686800" y="3291840"/>
            <a:ext cx="219456" cy="0"/>
          </a:xfrm>
          <a:prstGeom prst="line">
            <a:avLst/>
          </a:prstGeom>
          <a:noFill/>
          <a:ln w="12700">
            <a:solidFill>
              <a:srgbClr val="C18A2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961120" y="274320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FAF3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7424" y="2907792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07424" y="3218688"/>
            <a:ext cx="1078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eval_predictions.py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332720" y="3291840"/>
            <a:ext cx="219456" cy="0"/>
          </a:xfrm>
          <a:prstGeom prst="line">
            <a:avLst/>
          </a:prstGeom>
          <a:noFill/>
          <a:ln w="12700">
            <a:solidFill>
              <a:srgbClr val="C18A2D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607040" y="274320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53344" y="2907792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753344" y="3218688"/>
            <a:ext cx="1078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annotate_model_outputs.py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51560" y="4663440"/>
            <a:ext cx="10149840" cy="1051560"/>
          </a:xfrm>
          <a:prstGeom prst="roundRect">
            <a:avLst>
              <a:gd name="adj" fmla="val 6957"/>
            </a:avLst>
          </a:prstGeom>
          <a:solidFill>
            <a:srgbClr val="F9ECE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1560" y="4663440"/>
            <a:ext cx="109728" cy="1051560"/>
          </a:xfrm>
          <a:prstGeom prst="rect">
            <a:avLst/>
          </a:prstGeom>
          <a:solidFill>
            <a:srgbClr val="B5535C"/>
          </a:solidFill>
          <a:ln w="12700">
            <a:solidFill>
              <a:srgbClr val="B5535C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52728" y="4809744"/>
            <a:ext cx="9838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principle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252728" y="5138928"/>
            <a:ext cx="983894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standard benchmark is mandatory, stable, and automatically evaluable. Users do not need to provide analytical explanations unless they explicitly want paper-oriented examples.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Workflow | standard benchmark mode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C8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SCHEMA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Canonical prediction schema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benchmark keeps backward compatibility with the legacy prediction field while defining task-aware canonical outputs.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53035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65960"/>
            <a:ext cx="109728" cy="3611880"/>
          </a:xfrm>
          <a:prstGeom prst="rect">
            <a:avLst/>
          </a:prstGeom>
          <a:solidFill>
            <a:srgbClr val="1E7C86"/>
          </a:solidFill>
          <a:ln w="12700">
            <a:solidFill>
              <a:srgbClr val="1E7C8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112264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Label-task prediction row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2441448"/>
            <a:ext cx="4992624" cy="3026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4663440" cy="2651760"/>
          </a:xfrm>
          <a:prstGeom prst="rect">
            <a:avLst/>
          </a:prstGeom>
          <a:solidFill>
            <a:srgbClr val="F8FAFD"/>
          </a:solidFill>
          <a:ln>
            <a:solidFill>
              <a:srgbClr val="D7DEE8"/>
            </a:solidFill>
          </a:ln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"task3_harmonic_function-000001",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"prediction_type": "label",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"prediction_label": "dominant",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"prediction_explanation": "optional",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"prediction": "dominant"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965960"/>
            <a:ext cx="109728" cy="3611880"/>
          </a:xfrm>
          <a:prstGeom prst="rect">
            <a:avLst/>
          </a:prstGeom>
          <a:solidFill>
            <a:srgbClr val="C18A2D"/>
          </a:solidFill>
          <a:ln w="12700">
            <a:solidFill>
              <a:srgbClr val="C18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2112264"/>
            <a:ext cx="5038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Sequence-task prediction row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19088" y="2441448"/>
            <a:ext cx="5038344" cy="3026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0" y="2514600"/>
            <a:ext cx="4663440" cy="2651760"/>
          </a:xfrm>
          <a:prstGeom prst="rect">
            <a:avLst/>
          </a:prstGeom>
          <a:solidFill>
            <a:srgbClr val="F8FAFD"/>
          </a:solidFill>
          <a:ln>
            <a:solidFill>
              <a:srgbClr val="D7DEE8"/>
            </a:solidFill>
          </a:ln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"task4_transposition-000001",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"prediction_type": "notes",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"prediction_notes": "tokenized melody",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"prediction_structured": [ ... ],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"prediction": "tokenized melody"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Prediction schema | canonical fields with fallback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C8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Automatic evaluation and result products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standard evaluator covers all eight tasks while still allowing task-specific sequence analysis when needed.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37490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65960"/>
            <a:ext cx="109728" cy="3566160"/>
          </a:xfrm>
          <a:prstGeom prst="rect">
            <a:avLst/>
          </a:prstGeom>
          <a:solidFill>
            <a:srgbClr val="1E7C86"/>
          </a:solidFill>
          <a:ln w="12700">
            <a:solidFill>
              <a:srgbClr val="1E7C8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112264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evaluator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2441448"/>
            <a:ext cx="3438144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eval_predictions.py unifies Tasks 1-8 and produces overall, by-task, and by-tokenizer summaries.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3154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Tasks 1 and 2: exact match accuracy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914400" y="3099816"/>
            <a:ext cx="3154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 3: accuracy and macro F1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914400" y="3456432"/>
            <a:ext cx="3154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 4: exact match, pitch accuracy, interval preservation, rhythm preservation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914400" y="3813048"/>
            <a:ext cx="3154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 5: exact match and pitch accuracy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914400" y="4169664"/>
            <a:ext cx="3154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 6: exact match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914400" y="4526280"/>
            <a:ext cx="3154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 7: exact match, duration accuracy, bar validity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914400" y="4882896"/>
            <a:ext cx="3154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 8: accuracy and macro F1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4663440" y="196596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AF3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965960"/>
            <a:ext cx="109728" cy="1691640"/>
          </a:xfrm>
          <a:prstGeom prst="rect">
            <a:avLst/>
          </a:prstGeom>
          <a:solidFill>
            <a:srgbClr val="C18A2D"/>
          </a:solidFill>
          <a:ln w="12700">
            <a:solidFill>
              <a:srgbClr val="C18A2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112264"/>
            <a:ext cx="3072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outputs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64608" y="2441448"/>
            <a:ext cx="307238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overall.json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by_task.json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by_tokenizer.json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8404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9ECE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840480"/>
            <a:ext cx="109728" cy="1691640"/>
          </a:xfrm>
          <a:prstGeom prst="rect">
            <a:avLst/>
          </a:prstGeom>
          <a:solidFill>
            <a:srgbClr val="B5535C"/>
          </a:solidFill>
          <a:ln w="12700">
            <a:solidFill>
              <a:srgbClr val="B5535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3986784"/>
            <a:ext cx="3072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outputs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64608" y="4315968"/>
            <a:ext cx="307238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cases_with_outputs.json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summary.json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75320" y="196596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1965960"/>
            <a:ext cx="109728" cy="3566160"/>
          </a:xfrm>
          <a:prstGeom prst="rect">
            <a:avLst/>
          </a:prstGeom>
          <a:solidFill>
            <a:srgbClr val="2A8E5E"/>
          </a:solidFill>
          <a:ln w="12700">
            <a:solidFill>
              <a:srgbClr val="2A8E5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76488" y="2112264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76488" y="2441448"/>
            <a:ext cx="2980944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benchmark can be tested with short, stable outputs. This keeps the main evaluation reproducible while leaving room for a second explanatory layer in the paper.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Evaluation | standard reporting and analysis outputs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C8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MUSICOLOGY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mode vs explanatory mode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benchmark remains formally strict in standard mode and analytically richer in explanatory mode.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5303520" cy="3337560"/>
          </a:xfrm>
          <a:prstGeom prst="roundRect">
            <a:avLst>
              <a:gd name="adj" fmla="val 2192"/>
            </a:avLst>
          </a:prstGeom>
          <a:solidFill>
            <a:srgbClr val="E9F5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65960"/>
            <a:ext cx="109728" cy="3337560"/>
          </a:xfrm>
          <a:prstGeom prst="rect">
            <a:avLst/>
          </a:prstGeom>
          <a:solidFill>
            <a:srgbClr val="1E7C86"/>
          </a:solidFill>
          <a:ln w="12700">
            <a:solidFill>
              <a:srgbClr val="1E7C8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112264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benchmark mode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2441448"/>
            <a:ext cx="4992624" cy="2752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4663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Mandatory and documented first.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914400" y="3044952"/>
            <a:ext cx="4663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Aimed at non-expert users.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14400" y="3529584"/>
            <a:ext cx="4663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Stable outputs: prediction_label or prediction_notes.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14400" y="4014216"/>
            <a:ext cx="4663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Easy parsing and automatic scoring.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914400" y="4498848"/>
            <a:ext cx="4663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Best path for demos, tests, and reproducible evaluation.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17920" y="1965960"/>
            <a:ext cx="5349240" cy="3337560"/>
          </a:xfrm>
          <a:prstGeom prst="roundRect">
            <a:avLst>
              <a:gd name="adj" fmla="val 2192"/>
            </a:avLst>
          </a:prstGeom>
          <a:solidFill>
            <a:srgbClr val="FAF3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965960"/>
            <a:ext cx="109728" cy="3337560"/>
          </a:xfrm>
          <a:prstGeom prst="rect">
            <a:avLst/>
          </a:prstGeom>
          <a:solidFill>
            <a:srgbClr val="C18A2D"/>
          </a:solidFill>
          <a:ln w="12700">
            <a:solidFill>
              <a:srgbClr val="C18A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2112264"/>
            <a:ext cx="5038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Explanatory mode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9088" y="2441448"/>
            <a:ext cx="5038344" cy="2752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92240" y="2560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Optional and paper-oriented.</a:t>
            </a:r>
            <a:endParaRPr lang="en-US" sz="1110" dirty="0"/>
          </a:p>
        </p:txBody>
      </p:sp>
      <p:sp>
        <p:nvSpPr>
          <p:cNvPr id="21" name="Text 19"/>
          <p:cNvSpPr/>
          <p:nvPr/>
        </p:nvSpPr>
        <p:spPr>
          <a:xfrm>
            <a:off x="649224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Keeps the same main output as standard mode.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6492240" y="3474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May add prediction_explanation for label tasks.</a:t>
            </a:r>
            <a:endParaRPr lang="en-US" sz="1110" dirty="0"/>
          </a:p>
        </p:txBody>
      </p:sp>
      <p:sp>
        <p:nvSpPr>
          <p:cNvPr id="23" name="Text 21"/>
          <p:cNvSpPr/>
          <p:nvPr/>
        </p:nvSpPr>
        <p:spPr>
          <a:xfrm>
            <a:off x="6492240" y="3931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Supports qualitative comparison between correctness and explanation quality.</a:t>
            </a:r>
            <a:endParaRPr lang="en-US" sz="1110" dirty="0"/>
          </a:p>
        </p:txBody>
      </p:sp>
      <p:sp>
        <p:nvSpPr>
          <p:cNvPr id="24" name="Text 22"/>
          <p:cNvSpPr/>
          <p:nvPr/>
        </p:nvSpPr>
        <p:spPr>
          <a:xfrm>
            <a:off x="6492240" y="4389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Should not become a dependency of the core benchmark metric.</a:t>
            </a:r>
            <a:endParaRPr lang="en-US" sz="1110" dirty="0"/>
          </a:p>
        </p:txBody>
      </p:sp>
      <p:sp>
        <p:nvSpPr>
          <p:cNvPr id="25" name="Text 23"/>
          <p:cNvSpPr/>
          <p:nvPr/>
        </p:nvSpPr>
        <p:spPr>
          <a:xfrm>
            <a:off x="1005840" y="5440680"/>
            <a:ext cx="10058400" cy="640080"/>
          </a:xfrm>
          <a:prstGeom prst="rect">
            <a:avLst/>
          </a:prstGeom>
          <a:solidFill>
            <a:srgbClr val="F8FAFD"/>
          </a:solidFill>
          <a:ln>
            <a:solidFill>
              <a:srgbClr val="D7DEE8"/>
            </a:solidFill>
          </a:ln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prediction_label = "dominant"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prediction_explanation = "In C major, G functions as V and creates tension toward the tonic."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Musicology layer | standard and explanatory usage modes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C8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DIAGRAMS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Use-case 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This view is useful when explaining who uses the benchmark and what each user type needs from it.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11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Actors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633472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Non-expert user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7824" y="2944368"/>
            <a:ext cx="17190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Runs and scores the standard benchmark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822192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user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7824" y="4133088"/>
            <a:ext cx="17190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Collects qualitative paper examples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484632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5010912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developer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7824" y="5321808"/>
            <a:ext cx="17190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Compares models and tokenizers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29000" y="2011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91840" y="24688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E9F5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38144" y="2633472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standard benchmark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38144" y="2944368"/>
            <a:ext cx="24505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Generate, run, evaluate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6576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AF3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38144" y="3822192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annotated outputs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38144" y="4133088"/>
            <a:ext cx="24505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Inspect hit_ground_truth and examples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48463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9ECE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38144" y="5010912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tokenizers or models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38144" y="5321808"/>
            <a:ext cx="24505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Benchmark engineering workflow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583680" y="246888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9984" y="2633472"/>
            <a:ext cx="4279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 paper examples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29984" y="2944368"/>
            <a:ext cx="42793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 cases_with_outputs.json and summary.json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83680" y="365760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9984" y="3822192"/>
            <a:ext cx="4279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Inspect analytical explanations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9984" y="4133088"/>
            <a:ext cx="42793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Optional prediction_explanation for qualitative analysis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0" y="2907792"/>
            <a:ext cx="512064" cy="0"/>
          </a:xfrm>
          <a:prstGeom prst="line">
            <a:avLst/>
          </a:prstGeom>
          <a:noFill/>
          <a:ln w="12700">
            <a:solidFill>
              <a:srgbClr val="1E7C8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743200" y="4096512"/>
            <a:ext cx="512064" cy="0"/>
          </a:xfrm>
          <a:prstGeom prst="line">
            <a:avLst/>
          </a:prstGeom>
          <a:noFill/>
          <a:ln w="12700">
            <a:solidFill>
              <a:srgbClr val="1E7C8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743200" y="5285232"/>
            <a:ext cx="512064" cy="0"/>
          </a:xfrm>
          <a:prstGeom prst="line">
            <a:avLst/>
          </a:prstGeom>
          <a:noFill/>
          <a:ln w="12700">
            <a:solidFill>
              <a:srgbClr val="1E7C8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035040" y="2907792"/>
            <a:ext cx="512064" cy="0"/>
          </a:xfrm>
          <a:prstGeom prst="line">
            <a:avLst/>
          </a:prstGeom>
          <a:noFill/>
          <a:ln w="12700">
            <a:solidFill>
              <a:srgbClr val="1E7C8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035040" y="4096512"/>
            <a:ext cx="512064" cy="0"/>
          </a:xfrm>
          <a:prstGeom prst="line">
            <a:avLst/>
          </a:prstGeom>
          <a:noFill/>
          <a:ln w="12700">
            <a:solidFill>
              <a:srgbClr val="C18A2D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54864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Use-case view | actors and benchmark goals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C8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DIAGRAMS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and component views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These views are useful in the paper and in technical walkthroughs because they separate runtime order from logical organization.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sequence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2496312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23544" y="2807208"/>
            <a:ext cx="758952" cy="-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307592" y="2926080"/>
            <a:ext cx="0" cy="196596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2331720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95144" y="2496312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95144" y="2807208"/>
            <a:ext cx="758952" cy="-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79192" y="2926080"/>
            <a:ext cx="0" cy="196596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2331720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66744" y="2496312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66744" y="2807208"/>
            <a:ext cx="758952" cy="-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50792" y="2926080"/>
            <a:ext cx="0" cy="196596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2331720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38344" y="2496312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38344" y="2807208"/>
            <a:ext cx="758952" cy="-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22392" y="2926080"/>
            <a:ext cx="0" cy="196596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331720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2496312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9944" y="2807208"/>
            <a:ext cx="758952" cy="-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93992" y="2926080"/>
            <a:ext cx="0" cy="196596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5240" y="2331720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81544" y="2496312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81544" y="2807208"/>
            <a:ext cx="758952" cy="-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65592" y="2926080"/>
            <a:ext cx="0" cy="196596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0" y="2331720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53144" y="2496312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53144" y="2807208"/>
            <a:ext cx="758952" cy="-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537192" y="2926080"/>
            <a:ext cx="0" cy="196596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25880" y="3246120"/>
            <a:ext cx="822960" cy="0"/>
          </a:xfrm>
          <a:prstGeom prst="line">
            <a:avLst/>
          </a:prstGeom>
          <a:noFill/>
          <a:ln w="12700">
            <a:solidFill>
              <a:srgbClr val="1E7C8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697480" y="3566160"/>
            <a:ext cx="822960" cy="0"/>
          </a:xfrm>
          <a:prstGeom prst="line">
            <a:avLst/>
          </a:prstGeom>
          <a:noFill/>
          <a:ln w="12700">
            <a:solidFill>
              <a:srgbClr val="1E7C8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069080" y="3886200"/>
            <a:ext cx="822960" cy="0"/>
          </a:xfrm>
          <a:prstGeom prst="line">
            <a:avLst/>
          </a:prstGeom>
          <a:noFill/>
          <a:ln w="12700">
            <a:solidFill>
              <a:srgbClr val="1E7C8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440680" y="4206240"/>
            <a:ext cx="822960" cy="0"/>
          </a:xfrm>
          <a:prstGeom prst="line">
            <a:avLst/>
          </a:prstGeom>
          <a:noFill/>
          <a:ln w="12700">
            <a:solidFill>
              <a:srgbClr val="1E7C8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812280" y="4526280"/>
            <a:ext cx="822960" cy="0"/>
          </a:xfrm>
          <a:prstGeom prst="line">
            <a:avLst/>
          </a:prstGeom>
          <a:noFill/>
          <a:ln w="12700">
            <a:solidFill>
              <a:srgbClr val="1E7C86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812280" y="4846320"/>
            <a:ext cx="2194560" cy="0"/>
          </a:xfrm>
          <a:prstGeom prst="line">
            <a:avLst/>
          </a:prstGeom>
          <a:noFill/>
          <a:ln w="12700">
            <a:solidFill>
              <a:srgbClr val="C18A2D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1490472" y="3127248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generate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852928" y="3447288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export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224528" y="3767328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605272" y="4087368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run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967728" y="4407408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424928" y="472744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annotate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555480" y="1810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 view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464040" y="288036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E9F5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10344" y="3044952"/>
            <a:ext cx="1764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 logic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610344" y="3355848"/>
            <a:ext cx="1764792" cy="-18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rules.py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task_specs.py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musicology.py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464040" y="365760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AF3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10344" y="3822192"/>
            <a:ext cx="1764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9610344" y="4133088"/>
            <a:ext cx="1764792" cy="-18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render.py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tokenizers.py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predictions.py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464040" y="443484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10344" y="4599432"/>
            <a:ext cx="1764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9610344" y="4910328"/>
            <a:ext cx="1764792" cy="-18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build_model_io_json.py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model runners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464040" y="521208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9ECE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10344" y="5376672"/>
            <a:ext cx="1764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9610344" y="5687568"/>
            <a:ext cx="1764792" cy="-18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eval_predictions.py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annotate_model_outputs.py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4864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Sequence and component views | runtime and logical organization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C8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framing, contributions, and 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project can now be presented as both a usable benchmark and a paper-ready research artifact.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53035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65960"/>
            <a:ext cx="109728" cy="3611880"/>
          </a:xfrm>
          <a:prstGeom prst="rect">
            <a:avLst/>
          </a:prstGeom>
          <a:solidFill>
            <a:srgbClr val="1E7C86"/>
          </a:solidFill>
          <a:ln w="12700">
            <a:solidFill>
              <a:srgbClr val="1E7C8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112264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framing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2441448"/>
            <a:ext cx="4992624" cy="3026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symbolic benchmark for music theory and computational musicology.</a:t>
            </a:r>
            <a:endParaRPr lang="en-US" sz="111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multi-task benchmark for symbolic musical reasoning.</a:t>
            </a:r>
            <a:endParaRPr lang="en-US" sz="1110" dirty="0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Automatic formal evaluation with stable outputs.</a:t>
            </a:r>
            <a:endParaRPr lang="en-US" sz="1110" dirty="0"/>
          </a:p>
        </p:txBody>
      </p:sp>
      <p:sp>
        <p:nvSpPr>
          <p:cNvPr id="14" name="Text 12"/>
          <p:cNvSpPr/>
          <p:nvPr/>
        </p:nvSpPr>
        <p:spPr>
          <a:xfrm>
            <a:off x="914400" y="3931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Optional analytical explanation layer for qualitative analysis.</a:t>
            </a:r>
            <a:endParaRPr lang="en-US" sz="1110" dirty="0"/>
          </a:p>
        </p:txBody>
      </p:sp>
      <p:sp>
        <p:nvSpPr>
          <p:cNvPr id="15" name="Text 13"/>
          <p:cNvSpPr/>
          <p:nvPr/>
        </p:nvSpPr>
        <p:spPr>
          <a:xfrm>
            <a:off x="914400" y="4389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1F2A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Current V1 scope with planned extensions and not yet final theoretical coverage.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6217920" y="19659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AF3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965960"/>
            <a:ext cx="109728" cy="1691640"/>
          </a:xfrm>
          <a:prstGeom prst="rect">
            <a:avLst/>
          </a:prstGeom>
          <a:solidFill>
            <a:srgbClr val="C18A2D"/>
          </a:solidFill>
          <a:ln w="12700">
            <a:solidFill>
              <a:srgbClr val="C18A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2112264"/>
            <a:ext cx="5038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claims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9088" y="2441448"/>
            <a:ext cx="503834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Operationalization of music-theory concepts, benchmark design for symbolic reasoning, and comparison between structural accuracy and explanation quality.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8404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9ECE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840480"/>
            <a:ext cx="109728" cy="1691640"/>
          </a:xfrm>
          <a:prstGeom prst="rect">
            <a:avLst/>
          </a:prstGeom>
          <a:solidFill>
            <a:srgbClr val="B5535C"/>
          </a:solidFill>
          <a:ln w="12700">
            <a:solidFill>
              <a:srgbClr val="B5535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3986784"/>
            <a:ext cx="5038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19088" y="4315968"/>
            <a:ext cx="503834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Finish API integration, run benchmark experiments, collect explanatory examples, and refine paper and presentation together.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Paper framing | benchmark and scientific contribution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erdan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UPF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Symbolic Music Benchmark for Music Theory and Computational Musicology</dc:title>
  <dc:subject>Symbolic music benchmark paper proposal</dc:subject>
  <dc:creator>ASMCM</dc:creator>
  <cp:lastModifiedBy>ASMCM</cp:lastModifiedBy>
  <cp:revision>1</cp:revision>
  <dcterms:created xsi:type="dcterms:W3CDTF">2026-03-17T18:31:53Z</dcterms:created>
  <dcterms:modified xsi:type="dcterms:W3CDTF">2026-03-17T18:31:53Z</dcterms:modified>
</cp:coreProperties>
</file>